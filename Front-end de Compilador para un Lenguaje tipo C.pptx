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6256000" cy="9144000"/>
  <p:notesSz cx="9144000" cy="16256000"/>
  <p:embeddedFontLst>
    <p:embeddedFont>
      <p:font typeface="Liter" panose="020B0604020202020204" charset="0"/>
      <p:regular r:id="rId21"/>
    </p:embeddedFont>
    <p:embeddedFont>
      <p:font typeface="Quattrocento Sans" panose="020B0502050000020003" pitchFamily="34" charset="0"/>
      <p:regular r:id="rId22"/>
    </p:embeddedFont>
  </p:embeddedFontLst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321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2540000" cy="38100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524000" y="2667000"/>
            <a:ext cx="1320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COMPILADOR</a:t>
            </a:r>
            <a:endParaRPr lang="en-US" sz="4000" dirty="0"/>
          </a:p>
          <a:p>
            <a:pPr algn="ctr">
              <a:lnSpc>
                <a:spcPct val="120000"/>
              </a:lnSpc>
            </a:pPr>
            <a:r>
              <a:rPr lang="en-US" sz="36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 UN LENGUAJE TIPO C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048000" y="4445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kern="0" spc="30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DEFINICIÓN DIRIGIDA POR SINTAXIS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318000" y="4953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kern="0" spc="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  ·  BISON  ·  TAC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0" y="5588000"/>
            <a:ext cx="2540000" cy="38100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2540000" y="6096000"/>
            <a:ext cx="1117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Mendez Camacho Monserrat  ·  424490034</a:t>
            </a:r>
            <a:endParaRPr lang="en-US" sz="1400" dirty="0"/>
          </a:p>
          <a:p>
            <a:pPr algn="ctr">
              <a:lnSpc>
                <a:spcPct val="18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Rodríguez Nevarez Edwin  ·  312227441</a:t>
            </a:r>
            <a:endParaRPr lang="en-US" sz="1400" dirty="0"/>
          </a:p>
          <a:p>
            <a:pPr algn="ctr">
              <a:lnSpc>
                <a:spcPct val="18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Carrillo Gonzalez Luis Israel  ·  321050324</a:t>
            </a:r>
            <a:endParaRPr lang="en-US" sz="1400" dirty="0"/>
          </a:p>
          <a:p>
            <a:pPr algn="ctr">
              <a:lnSpc>
                <a:spcPct val="18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Reyna Méndez Cristian Ignacio  ·  320140579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588000" y="8128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kern="0" spc="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GRUPO 2026-2  ·  JUNIO 2026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400" dirty="0">
                <a:solidFill>
                  <a:srgbClr val="5C6B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CONTENIDO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9525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Índice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1651000"/>
            <a:ext cx="14732000" cy="254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4572000" cy="279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016000" y="2222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16000" y="2921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Descripción del Lenguaje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Tokens, sintaxis y características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699000" y="419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38654" y="893"/>
                </a:moveTo>
                <a:cubicBezTo>
                  <a:pt x="227409" y="-2753"/>
                  <a:pt x="215702" y="4614"/>
                  <a:pt x="212460" y="17264"/>
                </a:cubicBezTo>
                <a:lnTo>
                  <a:pt x="127794" y="350639"/>
                </a:lnTo>
                <a:cubicBezTo>
                  <a:pt x="124553" y="363289"/>
                  <a:pt x="131101" y="376461"/>
                  <a:pt x="142346" y="380107"/>
                </a:cubicBezTo>
                <a:cubicBezTo>
                  <a:pt x="153591" y="383753"/>
                  <a:pt x="165298" y="376386"/>
                  <a:pt x="168540" y="363736"/>
                </a:cubicBezTo>
                <a:lnTo>
                  <a:pt x="253206" y="30361"/>
                </a:lnTo>
                <a:cubicBezTo>
                  <a:pt x="256447" y="17711"/>
                  <a:pt x="249899" y="4539"/>
                  <a:pt x="238654" y="893"/>
                </a:cubicBezTo>
                <a:close/>
                <a:moveTo>
                  <a:pt x="281384" y="102171"/>
                </a:moveTo>
                <a:cubicBezTo>
                  <a:pt x="273116" y="111472"/>
                  <a:pt x="273116" y="126578"/>
                  <a:pt x="281384" y="135880"/>
                </a:cubicBezTo>
                <a:lnTo>
                  <a:pt x="329935" y="190500"/>
                </a:lnTo>
                <a:lnTo>
                  <a:pt x="281384" y="245120"/>
                </a:lnTo>
                <a:cubicBezTo>
                  <a:pt x="273116" y="254422"/>
                  <a:pt x="273116" y="269528"/>
                  <a:pt x="281384" y="278829"/>
                </a:cubicBezTo>
                <a:cubicBezTo>
                  <a:pt x="289653" y="288131"/>
                  <a:pt x="303080" y="288131"/>
                  <a:pt x="311348" y="278829"/>
                </a:cubicBezTo>
                <a:lnTo>
                  <a:pt x="374848" y="207392"/>
                </a:lnTo>
                <a:cubicBezTo>
                  <a:pt x="383117" y="198090"/>
                  <a:pt x="383117" y="182984"/>
                  <a:pt x="374848" y="173682"/>
                </a:cubicBezTo>
                <a:lnTo>
                  <a:pt x="311348" y="102245"/>
                </a:lnTo>
                <a:cubicBezTo>
                  <a:pt x="303080" y="92943"/>
                  <a:pt x="289653" y="92943"/>
                  <a:pt x="281384" y="102245"/>
                </a:cubicBezTo>
                <a:close/>
                <a:moveTo>
                  <a:pt x="99682" y="102171"/>
                </a:moveTo>
                <a:cubicBezTo>
                  <a:pt x="91414" y="92869"/>
                  <a:pt x="77986" y="92869"/>
                  <a:pt x="69718" y="102171"/>
                </a:cubicBezTo>
                <a:lnTo>
                  <a:pt x="6218" y="173608"/>
                </a:lnTo>
                <a:cubicBezTo>
                  <a:pt x="-2051" y="182910"/>
                  <a:pt x="-2051" y="198016"/>
                  <a:pt x="6218" y="207318"/>
                </a:cubicBezTo>
                <a:lnTo>
                  <a:pt x="69718" y="278755"/>
                </a:lnTo>
                <a:cubicBezTo>
                  <a:pt x="77986" y="288057"/>
                  <a:pt x="91414" y="288057"/>
                  <a:pt x="99682" y="278755"/>
                </a:cubicBezTo>
                <a:cubicBezTo>
                  <a:pt x="107950" y="269453"/>
                  <a:pt x="107950" y="254347"/>
                  <a:pt x="99682" y="245046"/>
                </a:cubicBezTo>
                <a:lnTo>
                  <a:pt x="51131" y="190500"/>
                </a:lnTo>
                <a:lnTo>
                  <a:pt x="99616" y="135880"/>
                </a:lnTo>
                <a:cubicBezTo>
                  <a:pt x="107884" y="126578"/>
                  <a:pt x="107884" y="111472"/>
                  <a:pt x="99616" y="102171"/>
                </a:cubicBezTo>
                <a:close/>
              </a:path>
            </a:pathLst>
          </a:custGeom>
          <a:solidFill>
            <a:srgbClr val="E8E8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5842000" y="2032000"/>
            <a:ext cx="4572000" cy="279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096000" y="2222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096000" y="2921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Análisis Léxico y Sintáctico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Flex, Bison y gramática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779000" y="419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47590" y="156642"/>
                </a:moveTo>
                <a:cubicBezTo>
                  <a:pt x="254853" y="154186"/>
                  <a:pt x="262473" y="158502"/>
                  <a:pt x="265747" y="166911"/>
                </a:cubicBezTo>
                <a:lnTo>
                  <a:pt x="276820" y="194890"/>
                </a:lnTo>
                <a:cubicBezTo>
                  <a:pt x="282952" y="195932"/>
                  <a:pt x="288965" y="198016"/>
                  <a:pt x="294620" y="200918"/>
                </a:cubicBezTo>
                <a:lnTo>
                  <a:pt x="315456" y="183579"/>
                </a:lnTo>
                <a:cubicBezTo>
                  <a:pt x="321707" y="178371"/>
                  <a:pt x="329982" y="179412"/>
                  <a:pt x="335280" y="186035"/>
                </a:cubicBezTo>
                <a:lnTo>
                  <a:pt x="346710" y="200323"/>
                </a:lnTo>
                <a:cubicBezTo>
                  <a:pt x="352008" y="206946"/>
                  <a:pt x="352842" y="217363"/>
                  <a:pt x="348675" y="225103"/>
                </a:cubicBezTo>
                <a:lnTo>
                  <a:pt x="334804" y="251073"/>
                </a:lnTo>
                <a:cubicBezTo>
                  <a:pt x="335935" y="254571"/>
                  <a:pt x="336947" y="258217"/>
                  <a:pt x="337780" y="262012"/>
                </a:cubicBezTo>
                <a:cubicBezTo>
                  <a:pt x="338614" y="265807"/>
                  <a:pt x="339150" y="269528"/>
                  <a:pt x="339566" y="273323"/>
                </a:cubicBezTo>
                <a:lnTo>
                  <a:pt x="362010" y="287164"/>
                </a:lnTo>
                <a:cubicBezTo>
                  <a:pt x="368737" y="291331"/>
                  <a:pt x="372189" y="300856"/>
                  <a:pt x="370225" y="309860"/>
                </a:cubicBezTo>
                <a:lnTo>
                  <a:pt x="366058" y="329357"/>
                </a:lnTo>
                <a:cubicBezTo>
                  <a:pt x="364093" y="338361"/>
                  <a:pt x="357366" y="344463"/>
                  <a:pt x="349865" y="343867"/>
                </a:cubicBezTo>
                <a:lnTo>
                  <a:pt x="324862" y="341858"/>
                </a:lnTo>
                <a:cubicBezTo>
                  <a:pt x="321112" y="347886"/>
                  <a:pt x="316766" y="353467"/>
                  <a:pt x="311825" y="358229"/>
                </a:cubicBezTo>
                <a:lnTo>
                  <a:pt x="313432" y="389409"/>
                </a:lnTo>
                <a:cubicBezTo>
                  <a:pt x="313908" y="398785"/>
                  <a:pt x="309027" y="407268"/>
                  <a:pt x="301823" y="409649"/>
                </a:cubicBezTo>
                <a:lnTo>
                  <a:pt x="286226" y="414858"/>
                </a:lnTo>
                <a:cubicBezTo>
                  <a:pt x="278963" y="417314"/>
                  <a:pt x="271403" y="412998"/>
                  <a:pt x="268069" y="404589"/>
                </a:cubicBezTo>
                <a:lnTo>
                  <a:pt x="256996" y="376610"/>
                </a:lnTo>
                <a:cubicBezTo>
                  <a:pt x="250865" y="375568"/>
                  <a:pt x="244852" y="373484"/>
                  <a:pt x="239197" y="370582"/>
                </a:cubicBezTo>
                <a:lnTo>
                  <a:pt x="218361" y="387921"/>
                </a:lnTo>
                <a:cubicBezTo>
                  <a:pt x="212110" y="393129"/>
                  <a:pt x="203835" y="392088"/>
                  <a:pt x="198537" y="385465"/>
                </a:cubicBezTo>
                <a:lnTo>
                  <a:pt x="187107" y="371177"/>
                </a:lnTo>
                <a:cubicBezTo>
                  <a:pt x="181808" y="364554"/>
                  <a:pt x="180975" y="354211"/>
                  <a:pt x="185142" y="346397"/>
                </a:cubicBezTo>
                <a:lnTo>
                  <a:pt x="199013" y="320353"/>
                </a:lnTo>
                <a:cubicBezTo>
                  <a:pt x="197882" y="316855"/>
                  <a:pt x="196870" y="313209"/>
                  <a:pt x="196036" y="309414"/>
                </a:cubicBezTo>
                <a:cubicBezTo>
                  <a:pt x="195203" y="305619"/>
                  <a:pt x="194667" y="301823"/>
                  <a:pt x="194250" y="298103"/>
                </a:cubicBezTo>
                <a:lnTo>
                  <a:pt x="171807" y="284262"/>
                </a:lnTo>
                <a:cubicBezTo>
                  <a:pt x="165080" y="280095"/>
                  <a:pt x="161687" y="270570"/>
                  <a:pt x="163592" y="261565"/>
                </a:cubicBezTo>
                <a:lnTo>
                  <a:pt x="167759" y="242069"/>
                </a:lnTo>
                <a:cubicBezTo>
                  <a:pt x="169724" y="233065"/>
                  <a:pt x="176451" y="226963"/>
                  <a:pt x="183952" y="227558"/>
                </a:cubicBezTo>
                <a:lnTo>
                  <a:pt x="208895" y="229567"/>
                </a:lnTo>
                <a:cubicBezTo>
                  <a:pt x="212646" y="223540"/>
                  <a:pt x="216991" y="217959"/>
                  <a:pt x="221932" y="213196"/>
                </a:cubicBezTo>
                <a:lnTo>
                  <a:pt x="220325" y="182091"/>
                </a:lnTo>
                <a:cubicBezTo>
                  <a:pt x="219849" y="172715"/>
                  <a:pt x="224730" y="164232"/>
                  <a:pt x="231934" y="161851"/>
                </a:cubicBezTo>
                <a:lnTo>
                  <a:pt x="247531" y="156642"/>
                </a:lnTo>
                <a:close/>
                <a:moveTo>
                  <a:pt x="266938" y="253008"/>
                </a:moveTo>
                <a:cubicBezTo>
                  <a:pt x="252481" y="253028"/>
                  <a:pt x="240758" y="267716"/>
                  <a:pt x="240774" y="285787"/>
                </a:cubicBezTo>
                <a:cubicBezTo>
                  <a:pt x="240791" y="303858"/>
                  <a:pt x="252541" y="318513"/>
                  <a:pt x="266998" y="318492"/>
                </a:cubicBezTo>
                <a:cubicBezTo>
                  <a:pt x="281454" y="318472"/>
                  <a:pt x="293178" y="303784"/>
                  <a:pt x="293162" y="285713"/>
                </a:cubicBezTo>
                <a:cubicBezTo>
                  <a:pt x="293145" y="267642"/>
                  <a:pt x="281395" y="252987"/>
                  <a:pt x="266938" y="253008"/>
                </a:cubicBezTo>
                <a:close/>
                <a:moveTo>
                  <a:pt x="133886" y="-33858"/>
                </a:moveTo>
                <a:lnTo>
                  <a:pt x="149483" y="-28649"/>
                </a:lnTo>
                <a:cubicBezTo>
                  <a:pt x="156686" y="-26194"/>
                  <a:pt x="161568" y="-17711"/>
                  <a:pt x="161092" y="-8409"/>
                </a:cubicBezTo>
                <a:lnTo>
                  <a:pt x="159484" y="22696"/>
                </a:lnTo>
                <a:cubicBezTo>
                  <a:pt x="164425" y="27459"/>
                  <a:pt x="168771" y="32965"/>
                  <a:pt x="172522" y="39067"/>
                </a:cubicBezTo>
                <a:lnTo>
                  <a:pt x="197525" y="37058"/>
                </a:lnTo>
                <a:cubicBezTo>
                  <a:pt x="204966" y="36463"/>
                  <a:pt x="211753" y="42565"/>
                  <a:pt x="213717" y="51569"/>
                </a:cubicBezTo>
                <a:lnTo>
                  <a:pt x="217884" y="71065"/>
                </a:lnTo>
                <a:cubicBezTo>
                  <a:pt x="219789" y="80070"/>
                  <a:pt x="216396" y="89595"/>
                  <a:pt x="209669" y="93762"/>
                </a:cubicBezTo>
                <a:lnTo>
                  <a:pt x="187226" y="107603"/>
                </a:lnTo>
                <a:cubicBezTo>
                  <a:pt x="186809" y="111398"/>
                  <a:pt x="186214" y="115193"/>
                  <a:pt x="185440" y="118914"/>
                </a:cubicBezTo>
                <a:cubicBezTo>
                  <a:pt x="184666" y="122634"/>
                  <a:pt x="183594" y="126355"/>
                  <a:pt x="182463" y="129853"/>
                </a:cubicBezTo>
                <a:lnTo>
                  <a:pt x="196334" y="155897"/>
                </a:lnTo>
                <a:cubicBezTo>
                  <a:pt x="200501" y="163711"/>
                  <a:pt x="199668" y="174054"/>
                  <a:pt x="194370" y="180677"/>
                </a:cubicBezTo>
                <a:lnTo>
                  <a:pt x="182940" y="194965"/>
                </a:lnTo>
                <a:cubicBezTo>
                  <a:pt x="177641" y="201588"/>
                  <a:pt x="169366" y="202629"/>
                  <a:pt x="163116" y="197421"/>
                </a:cubicBezTo>
                <a:lnTo>
                  <a:pt x="142280" y="180082"/>
                </a:lnTo>
                <a:cubicBezTo>
                  <a:pt x="136624" y="182984"/>
                  <a:pt x="130612" y="185068"/>
                  <a:pt x="124480" y="186110"/>
                </a:cubicBezTo>
                <a:lnTo>
                  <a:pt x="113407" y="214089"/>
                </a:lnTo>
                <a:cubicBezTo>
                  <a:pt x="110073" y="222498"/>
                  <a:pt x="102453" y="226740"/>
                  <a:pt x="95250" y="224358"/>
                </a:cubicBezTo>
                <a:lnTo>
                  <a:pt x="79653" y="219149"/>
                </a:lnTo>
                <a:cubicBezTo>
                  <a:pt x="72390" y="216694"/>
                  <a:pt x="67568" y="208211"/>
                  <a:pt x="68044" y="198909"/>
                </a:cubicBezTo>
                <a:lnTo>
                  <a:pt x="69652" y="167729"/>
                </a:lnTo>
                <a:cubicBezTo>
                  <a:pt x="64710" y="162967"/>
                  <a:pt x="60365" y="157460"/>
                  <a:pt x="56614" y="151358"/>
                </a:cubicBezTo>
                <a:lnTo>
                  <a:pt x="31611" y="153367"/>
                </a:lnTo>
                <a:cubicBezTo>
                  <a:pt x="24170" y="153963"/>
                  <a:pt x="17383" y="147861"/>
                  <a:pt x="15419" y="138857"/>
                </a:cubicBezTo>
                <a:lnTo>
                  <a:pt x="11251" y="119360"/>
                </a:lnTo>
                <a:cubicBezTo>
                  <a:pt x="9346" y="110356"/>
                  <a:pt x="12740" y="100831"/>
                  <a:pt x="19467" y="96664"/>
                </a:cubicBezTo>
                <a:lnTo>
                  <a:pt x="41910" y="82823"/>
                </a:lnTo>
                <a:cubicBezTo>
                  <a:pt x="42327" y="79028"/>
                  <a:pt x="42922" y="75307"/>
                  <a:pt x="43696" y="71512"/>
                </a:cubicBezTo>
                <a:cubicBezTo>
                  <a:pt x="44529" y="67717"/>
                  <a:pt x="45482" y="64071"/>
                  <a:pt x="46673" y="60573"/>
                </a:cubicBezTo>
                <a:lnTo>
                  <a:pt x="32802" y="34603"/>
                </a:lnTo>
                <a:cubicBezTo>
                  <a:pt x="28635" y="26789"/>
                  <a:pt x="29468" y="16446"/>
                  <a:pt x="34766" y="9823"/>
                </a:cubicBezTo>
                <a:lnTo>
                  <a:pt x="46196" y="-4465"/>
                </a:lnTo>
                <a:cubicBezTo>
                  <a:pt x="51495" y="-11088"/>
                  <a:pt x="59769" y="-12129"/>
                  <a:pt x="66020" y="-6921"/>
                </a:cubicBezTo>
                <a:lnTo>
                  <a:pt x="86856" y="10418"/>
                </a:lnTo>
                <a:cubicBezTo>
                  <a:pt x="92512" y="7516"/>
                  <a:pt x="98524" y="5432"/>
                  <a:pt x="104656" y="4390"/>
                </a:cubicBezTo>
                <a:lnTo>
                  <a:pt x="115729" y="-23589"/>
                </a:lnTo>
                <a:cubicBezTo>
                  <a:pt x="119062" y="-31998"/>
                  <a:pt x="126623" y="-36240"/>
                  <a:pt x="133886" y="-33858"/>
                </a:cubicBezTo>
                <a:close/>
                <a:moveTo>
                  <a:pt x="114538" y="62508"/>
                </a:moveTo>
                <a:cubicBezTo>
                  <a:pt x="100081" y="62508"/>
                  <a:pt x="88344" y="77179"/>
                  <a:pt x="88344" y="95250"/>
                </a:cubicBezTo>
                <a:cubicBezTo>
                  <a:pt x="88344" y="113321"/>
                  <a:pt x="100081" y="127992"/>
                  <a:pt x="114538" y="127992"/>
                </a:cubicBezTo>
                <a:cubicBezTo>
                  <a:pt x="128995" y="127992"/>
                  <a:pt x="140732" y="113321"/>
                  <a:pt x="140732" y="95250"/>
                </a:cubicBezTo>
                <a:cubicBezTo>
                  <a:pt x="140732" y="77179"/>
                  <a:pt x="128995" y="62508"/>
                  <a:pt x="114538" y="62508"/>
                </a:cubicBezTo>
                <a:close/>
              </a:path>
            </a:pathLst>
          </a:custGeom>
          <a:solidFill>
            <a:srgbClr val="E8E8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10922000" y="2032000"/>
            <a:ext cx="4572000" cy="279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11176000" y="2222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11176000" y="2921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Análisis Semántico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Atributos, reglas y ámbitos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4859000" y="419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09563" y="154781"/>
                </a:moveTo>
                <a:cubicBezTo>
                  <a:pt x="309563" y="188937"/>
                  <a:pt x="298475" y="220489"/>
                  <a:pt x="279797" y="246087"/>
                </a:cubicBezTo>
                <a:lnTo>
                  <a:pt x="374005" y="340370"/>
                </a:lnTo>
                <a:cubicBezTo>
                  <a:pt x="383307" y="349672"/>
                  <a:pt x="383307" y="364778"/>
                  <a:pt x="374005" y="374079"/>
                </a:cubicBezTo>
                <a:cubicBezTo>
                  <a:pt x="364703" y="383381"/>
                  <a:pt x="349597" y="383381"/>
                  <a:pt x="340296" y="374079"/>
                </a:cubicBezTo>
                <a:lnTo>
                  <a:pt x="246087" y="279797"/>
                </a:lnTo>
                <a:cubicBezTo>
                  <a:pt x="220489" y="298475"/>
                  <a:pt x="188937" y="309563"/>
                  <a:pt x="154781" y="309563"/>
                </a:cubicBezTo>
                <a:cubicBezTo>
                  <a:pt x="69279" y="309563"/>
                  <a:pt x="0" y="240283"/>
                  <a:pt x="0" y="154781"/>
                </a:cubicBezTo>
                <a:cubicBezTo>
                  <a:pt x="0" y="69279"/>
                  <a:pt x="69279" y="0"/>
                  <a:pt x="154781" y="0"/>
                </a:cubicBezTo>
                <a:cubicBezTo>
                  <a:pt x="240283" y="0"/>
                  <a:pt x="309563" y="69279"/>
                  <a:pt x="309563" y="154781"/>
                </a:cubicBezTo>
                <a:close/>
                <a:moveTo>
                  <a:pt x="154781" y="261938"/>
                </a:moveTo>
                <a:cubicBezTo>
                  <a:pt x="213922" y="261938"/>
                  <a:pt x="261938" y="213922"/>
                  <a:pt x="261938" y="154781"/>
                </a:cubicBezTo>
                <a:cubicBezTo>
                  <a:pt x="261938" y="95640"/>
                  <a:pt x="213922" y="47625"/>
                  <a:pt x="154781" y="47625"/>
                </a:cubicBezTo>
                <a:cubicBezTo>
                  <a:pt x="95640" y="47625"/>
                  <a:pt x="47625" y="95640"/>
                  <a:pt x="47625" y="154781"/>
                </a:cubicBezTo>
                <a:cubicBezTo>
                  <a:pt x="47625" y="213922"/>
                  <a:pt x="95640" y="261938"/>
                  <a:pt x="154781" y="261938"/>
                </a:cubicBezTo>
                <a:close/>
              </a:path>
            </a:pathLst>
          </a:custGeom>
          <a:solidFill>
            <a:srgbClr val="E8E8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762000" y="5207000"/>
            <a:ext cx="4572000" cy="279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1016000" y="5397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1016000" y="6096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Tablas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Símbolos, tipos y estructuras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699000" y="7366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17714" y="119063"/>
                </a:moveTo>
                <a:lnTo>
                  <a:pt x="217714" y="190500"/>
                </a:lnTo>
                <a:lnTo>
                  <a:pt x="326571" y="190500"/>
                </a:lnTo>
                <a:lnTo>
                  <a:pt x="326571" y="119063"/>
                </a:lnTo>
                <a:lnTo>
                  <a:pt x="217714" y="119063"/>
                </a:lnTo>
                <a:close/>
                <a:moveTo>
                  <a:pt x="163286" y="119063"/>
                </a:moveTo>
                <a:lnTo>
                  <a:pt x="54429" y="119063"/>
                </a:lnTo>
                <a:lnTo>
                  <a:pt x="54429" y="190500"/>
                </a:lnTo>
                <a:lnTo>
                  <a:pt x="163286" y="190500"/>
                </a:lnTo>
                <a:lnTo>
                  <a:pt x="163286" y="119063"/>
                </a:lnTo>
                <a:close/>
                <a:moveTo>
                  <a:pt x="0" y="238125"/>
                </a:moveTo>
                <a:lnTo>
                  <a:pt x="0" y="71438"/>
                </a:lnTo>
                <a:cubicBezTo>
                  <a:pt x="0" y="45169"/>
                  <a:pt x="24408" y="23812"/>
                  <a:pt x="54429" y="23812"/>
                </a:cubicBezTo>
                <a:lnTo>
                  <a:pt x="326571" y="23812"/>
                </a:lnTo>
                <a:cubicBezTo>
                  <a:pt x="356592" y="23812"/>
                  <a:pt x="381000" y="45169"/>
                  <a:pt x="381000" y="71438"/>
                </a:cubicBezTo>
                <a:lnTo>
                  <a:pt x="381000" y="309563"/>
                </a:lnTo>
                <a:cubicBezTo>
                  <a:pt x="381000" y="335831"/>
                  <a:pt x="356592" y="357188"/>
                  <a:pt x="326571" y="357188"/>
                </a:cubicBezTo>
                <a:lnTo>
                  <a:pt x="54429" y="357188"/>
                </a:lnTo>
                <a:cubicBezTo>
                  <a:pt x="24408" y="357188"/>
                  <a:pt x="0" y="335831"/>
                  <a:pt x="0" y="309563"/>
                </a:cubicBezTo>
                <a:lnTo>
                  <a:pt x="0" y="238125"/>
                </a:lnTo>
                <a:close/>
                <a:moveTo>
                  <a:pt x="326571" y="238125"/>
                </a:moveTo>
                <a:lnTo>
                  <a:pt x="217714" y="238125"/>
                </a:lnTo>
                <a:lnTo>
                  <a:pt x="217714" y="309563"/>
                </a:lnTo>
                <a:lnTo>
                  <a:pt x="326571" y="309563"/>
                </a:lnTo>
                <a:lnTo>
                  <a:pt x="326571" y="238125"/>
                </a:lnTo>
                <a:close/>
                <a:moveTo>
                  <a:pt x="163286" y="309563"/>
                </a:moveTo>
                <a:lnTo>
                  <a:pt x="163286" y="238125"/>
                </a:lnTo>
                <a:lnTo>
                  <a:pt x="54429" y="238125"/>
                </a:lnTo>
                <a:lnTo>
                  <a:pt x="54429" y="309563"/>
                </a:lnTo>
                <a:lnTo>
                  <a:pt x="163286" y="309563"/>
                </a:lnTo>
                <a:close/>
              </a:path>
            </a:pathLst>
          </a:custGeom>
          <a:solidFill>
            <a:srgbClr val="E8E8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5842000" y="5207000"/>
            <a:ext cx="4572000" cy="279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6096000" y="5397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096000" y="6096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Generación de Código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Código intermedio TAC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779000" y="7366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995" y="88255"/>
                </a:moveTo>
                <a:cubicBezTo>
                  <a:pt x="-2307" y="78953"/>
                  <a:pt x="-2307" y="63847"/>
                  <a:pt x="6995" y="54546"/>
                </a:cubicBezTo>
                <a:cubicBezTo>
                  <a:pt x="16297" y="45244"/>
                  <a:pt x="31403" y="45244"/>
                  <a:pt x="40704" y="54546"/>
                </a:cubicBezTo>
                <a:lnTo>
                  <a:pt x="159767" y="173608"/>
                </a:lnTo>
                <a:cubicBezTo>
                  <a:pt x="169069" y="182910"/>
                  <a:pt x="169069" y="198016"/>
                  <a:pt x="159767" y="207318"/>
                </a:cubicBezTo>
                <a:lnTo>
                  <a:pt x="40704" y="326380"/>
                </a:lnTo>
                <a:cubicBezTo>
                  <a:pt x="31403" y="335682"/>
                  <a:pt x="16297" y="335682"/>
                  <a:pt x="6995" y="326380"/>
                </a:cubicBezTo>
                <a:cubicBezTo>
                  <a:pt x="-2307" y="317078"/>
                  <a:pt x="-2307" y="301972"/>
                  <a:pt x="6995" y="292671"/>
                </a:cubicBezTo>
                <a:lnTo>
                  <a:pt x="109165" y="190500"/>
                </a:lnTo>
                <a:lnTo>
                  <a:pt x="6995" y="88255"/>
                </a:lnTo>
                <a:close/>
                <a:moveTo>
                  <a:pt x="166688" y="285750"/>
                </a:moveTo>
                <a:lnTo>
                  <a:pt x="357188" y="285750"/>
                </a:lnTo>
                <a:cubicBezTo>
                  <a:pt x="370359" y="285750"/>
                  <a:pt x="381000" y="296391"/>
                  <a:pt x="381000" y="309563"/>
                </a:cubicBezTo>
                <a:cubicBezTo>
                  <a:pt x="381000" y="322734"/>
                  <a:pt x="370359" y="333375"/>
                  <a:pt x="357188" y="333375"/>
                </a:cubicBezTo>
                <a:lnTo>
                  <a:pt x="166688" y="333375"/>
                </a:lnTo>
                <a:cubicBezTo>
                  <a:pt x="153516" y="333375"/>
                  <a:pt x="142875" y="322734"/>
                  <a:pt x="142875" y="309563"/>
                </a:cubicBezTo>
                <a:cubicBezTo>
                  <a:pt x="142875" y="296391"/>
                  <a:pt x="153516" y="285750"/>
                  <a:pt x="166688" y="285750"/>
                </a:cubicBezTo>
                <a:close/>
              </a:path>
            </a:pathLst>
          </a:custGeom>
          <a:solidFill>
            <a:srgbClr val="E8E8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10922000" y="5207000"/>
            <a:ext cx="4572000" cy="279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11176000" y="5397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11176000" y="6096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Casos de Prueba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Validación y resultados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4859000" y="7366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54943" y="6995"/>
                </a:moveTo>
                <a:cubicBezTo>
                  <a:pt x="245641" y="-2307"/>
                  <a:pt x="230535" y="-2307"/>
                  <a:pt x="221233" y="6995"/>
                </a:cubicBezTo>
                <a:cubicBezTo>
                  <a:pt x="211931" y="16297"/>
                  <a:pt x="211931" y="31403"/>
                  <a:pt x="221233" y="40704"/>
                </a:cubicBezTo>
                <a:lnTo>
                  <a:pt x="228228" y="47625"/>
                </a:lnTo>
                <a:lnTo>
                  <a:pt x="20910" y="254943"/>
                </a:lnTo>
                <a:cubicBezTo>
                  <a:pt x="7516" y="268337"/>
                  <a:pt x="0" y="286494"/>
                  <a:pt x="0" y="305470"/>
                </a:cubicBezTo>
                <a:lnTo>
                  <a:pt x="0" y="309563"/>
                </a:lnTo>
                <a:cubicBezTo>
                  <a:pt x="0" y="349002"/>
                  <a:pt x="31998" y="381000"/>
                  <a:pt x="71438" y="381000"/>
                </a:cubicBezTo>
                <a:lnTo>
                  <a:pt x="75530" y="381000"/>
                </a:lnTo>
                <a:cubicBezTo>
                  <a:pt x="94506" y="381000"/>
                  <a:pt x="112663" y="373484"/>
                  <a:pt x="126057" y="360090"/>
                </a:cubicBezTo>
                <a:lnTo>
                  <a:pt x="333375" y="152772"/>
                </a:lnTo>
                <a:lnTo>
                  <a:pt x="340370" y="159767"/>
                </a:lnTo>
                <a:cubicBezTo>
                  <a:pt x="349672" y="169069"/>
                  <a:pt x="364778" y="169069"/>
                  <a:pt x="374079" y="159767"/>
                </a:cubicBezTo>
                <a:cubicBezTo>
                  <a:pt x="383381" y="150465"/>
                  <a:pt x="383381" y="135359"/>
                  <a:pt x="374079" y="126057"/>
                </a:cubicBezTo>
                <a:lnTo>
                  <a:pt x="255017" y="6995"/>
                </a:lnTo>
                <a:close/>
                <a:moveTo>
                  <a:pt x="152772" y="190500"/>
                </a:moveTo>
                <a:lnTo>
                  <a:pt x="261938" y="81335"/>
                </a:lnTo>
                <a:lnTo>
                  <a:pt x="299665" y="119063"/>
                </a:lnTo>
                <a:lnTo>
                  <a:pt x="228228" y="190500"/>
                </a:lnTo>
                <a:lnTo>
                  <a:pt x="152698" y="190500"/>
                </a:lnTo>
                <a:close/>
              </a:path>
            </a:pathLst>
          </a:custGeom>
          <a:solidFill>
            <a:srgbClr val="E8E8E3"/>
          </a:solidFill>
          <a:ln/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6400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1270000" y="3683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DESCRIPCIÓN DEL LENGUAJE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70000" y="4445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Tokens, sintaxis y características soportadas por nuestro compilador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70000" y="5080000"/>
            <a:ext cx="1524000" cy="50800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3500" y="38100"/>
            <a:ext cx="2540000" cy="381000"/>
          </a:xfrm>
          <a:prstGeom prst="roundRect">
            <a:avLst>
              <a:gd name="adj" fmla="val 8000"/>
            </a:avLst>
          </a:prstGeom>
          <a:solidFill>
            <a:srgbClr val="E9C46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63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 LENGUAJE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30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 LÉXICO/SINTÁCTICO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97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 SEMÁNTICO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64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 TABLAS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31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 CÓDIGO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398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 PRUEBAS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2000" y="711200"/>
            <a:ext cx="50800" cy="4064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965200" y="7112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Tokens y Sintaxis del Lenguaje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14732000" cy="127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762000" y="1498600"/>
            <a:ext cx="7112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5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Palabras reservadas</a:t>
            </a:r>
            <a:endParaRPr lang="en-US" sz="15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def, int, float, bool, char, struct, if, else, while, for, break, return, true, false</a:t>
            </a:r>
            <a:endParaRPr lang="en-US" sz="1500" dirty="0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Identificadores (ID)</a:t>
            </a:r>
            <a:endParaRPr lang="en-US" sz="15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Nombres de variables, funciones y estructuras. Inician con letra o guion bajo.</a:t>
            </a:r>
            <a:endParaRPr lang="en-US" sz="1500" dirty="0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Literales</a:t>
            </a:r>
            <a:endParaRPr lang="en-US" sz="15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Enteros (15), flotantes (3.14), caracteres ('a'), booleanos (true, false)</a:t>
            </a:r>
            <a:endParaRPr lang="en-US" sz="1500" dirty="0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Operadores</a:t>
            </a:r>
            <a:endParaRPr lang="en-US" sz="15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Aritméticos: +, -, *, /, %  |  Relacionales: &lt;, &gt;, &lt;=, &gt;=, ==, !=  |  Lógicos: &amp;&amp;, ||</a:t>
            </a:r>
            <a:endParaRPr lang="en-US" sz="1500" dirty="0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Símbolos de puntuación</a:t>
            </a:r>
            <a:endParaRPr lang="en-US" sz="15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 , ( ) { } [ ] 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55000" y="1498600"/>
            <a:ext cx="7239000" cy="431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8509000" y="1625600"/>
            <a:ext cx="673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Sintaxis del Lenguaje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09000" y="2057400"/>
            <a:ext cx="67310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 programa válido es una </a:t>
            </a: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lista de declaraciones globales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 pueden ser: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Declaración de variables</a:t>
            </a:r>
            <a:endParaRPr lang="en-US" sz="1500" dirty="0"/>
          </a:p>
          <a:p>
            <a:pPr algn="l">
              <a:lnSpc>
                <a:spcPct val="155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Definición de </a:t>
            </a: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structs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agrupar datos</a:t>
            </a:r>
            <a:endParaRPr lang="en-US" sz="1500" dirty="0"/>
          </a:p>
          <a:p>
            <a:pPr algn="l">
              <a:lnSpc>
                <a:spcPct val="155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Definición de </a:t>
            </a: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funciones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 la palabra </a:t>
            </a:r>
            <a:r>
              <a:rPr lang="en-US" sz="15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Dentro de las funciones se usan:</a:t>
            </a:r>
            <a:endParaRPr lang="en-US" sz="1500" dirty="0"/>
          </a:p>
          <a:p>
            <a:pPr algn="l">
              <a:lnSpc>
                <a:spcPct val="155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Ciclos: </a:t>
            </a: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while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</a:t>
            </a:r>
            <a:endParaRPr lang="en-US" sz="1500" dirty="0"/>
          </a:p>
          <a:p>
            <a:pPr algn="l">
              <a:lnSpc>
                <a:spcPct val="155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Condicionales: </a:t>
            </a: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if-else</a:t>
            </a:r>
            <a:endParaRPr lang="en-US" sz="1500" dirty="0"/>
          </a:p>
          <a:p>
            <a:pPr algn="l">
              <a:lnSpc>
                <a:spcPct val="155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Control: </a:t>
            </a: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lenguaje funciona como un </a:t>
            </a: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subconjunto de C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 tipado estático.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/ 18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3500" y="38100"/>
            <a:ext cx="2540000" cy="381000"/>
          </a:xfrm>
          <a:prstGeom prst="roundRect">
            <a:avLst>
              <a:gd name="adj" fmla="val 8000"/>
            </a:avLst>
          </a:prstGeom>
          <a:solidFill>
            <a:srgbClr val="E9C46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63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 LENGUAJE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30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 LÉXICO/SINTÁCTICO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97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 SEMÁNTICO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64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 TABLAS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31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 CÓDIGO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398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 PRUEBAS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2000" y="711200"/>
            <a:ext cx="50800" cy="4064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965200" y="7112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Características Soportadas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14732000" cy="127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762000" y="1524000"/>
            <a:ext cx="4699000" cy="203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1016000" y="171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142935"/>
                </a:moveTo>
                <a:cubicBezTo>
                  <a:pt x="343853" y="149741"/>
                  <a:pt x="330359" y="155228"/>
                  <a:pt x="316309" y="159603"/>
                </a:cubicBezTo>
                <a:cubicBezTo>
                  <a:pt x="279003" y="171271"/>
                  <a:pt x="230029" y="177800"/>
                  <a:pt x="177800" y="177800"/>
                </a:cubicBezTo>
                <a:cubicBezTo>
                  <a:pt x="125571" y="177800"/>
                  <a:pt x="76518" y="171202"/>
                  <a:pt x="39291" y="159603"/>
                </a:cubicBezTo>
                <a:cubicBezTo>
                  <a:pt x="25321" y="155228"/>
                  <a:pt x="11747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79613" y="255587"/>
                  <a:pt x="177800" y="255587"/>
                </a:cubicBezTo>
                <a:cubicBezTo>
                  <a:pt x="275987" y="255587"/>
                  <a:pt x="355600" y="230723"/>
                  <a:pt x="355600" y="200025"/>
                </a:cubicBezTo>
                <a:lnTo>
                  <a:pt x="355600" y="142935"/>
                </a:lnTo>
                <a:close/>
                <a:moveTo>
                  <a:pt x="355600" y="88900"/>
                </a:moveTo>
                <a:lnTo>
                  <a:pt x="355600" y="55563"/>
                </a:lnTo>
                <a:cubicBezTo>
                  <a:pt x="355600" y="24864"/>
                  <a:pt x="275987" y="0"/>
                  <a:pt x="177800" y="0"/>
                </a:cubicBezTo>
                <a:cubicBezTo>
                  <a:pt x="79613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79613" y="144463"/>
                  <a:pt x="177800" y="144463"/>
                </a:cubicBezTo>
                <a:cubicBezTo>
                  <a:pt x="275987" y="144463"/>
                  <a:pt x="355600" y="119598"/>
                  <a:pt x="355600" y="88900"/>
                </a:cubicBezTo>
                <a:close/>
                <a:moveTo>
                  <a:pt x="316309" y="270728"/>
                </a:moveTo>
                <a:cubicBezTo>
                  <a:pt x="279083" y="282327"/>
                  <a:pt x="230108" y="288925"/>
                  <a:pt x="177800" y="288925"/>
                </a:cubicBezTo>
                <a:cubicBezTo>
                  <a:pt x="125492" y="288925"/>
                  <a:pt x="76518" y="282327"/>
                  <a:pt x="39291" y="270728"/>
                </a:cubicBezTo>
                <a:cubicBezTo>
                  <a:pt x="25321" y="266353"/>
                  <a:pt x="11747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79613" y="355600"/>
                  <a:pt x="177800" y="355600"/>
                </a:cubicBezTo>
                <a:cubicBezTo>
                  <a:pt x="275987" y="355600"/>
                  <a:pt x="355600" y="330736"/>
                  <a:pt x="355600" y="300038"/>
                </a:cubicBezTo>
                <a:lnTo>
                  <a:pt x="355600" y="254060"/>
                </a:lnTo>
                <a:cubicBezTo>
                  <a:pt x="343853" y="260866"/>
                  <a:pt x="330359" y="266353"/>
                  <a:pt x="316309" y="270728"/>
                </a:cubicBezTo>
                <a:close/>
              </a:path>
            </a:pathLst>
          </a:cu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1498600" y="1714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Tipos de Datos Básicos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16000" y="21590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 de tipos clásicos: enteros (int), decimales (float), caracteres (char) y valores de verdad (bool).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778500" y="1524000"/>
            <a:ext cx="4699000" cy="203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6032500" y="171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479" y="3612"/>
                </a:moveTo>
                <a:cubicBezTo>
                  <a:pt x="171827" y="-1181"/>
                  <a:pt x="183773" y="-1181"/>
                  <a:pt x="194121" y="3612"/>
                </a:cubicBezTo>
                <a:lnTo>
                  <a:pt x="345946" y="73759"/>
                </a:lnTo>
                <a:cubicBezTo>
                  <a:pt x="351850" y="76468"/>
                  <a:pt x="355600" y="82371"/>
                  <a:pt x="355600" y="88900"/>
                </a:cubicBezTo>
                <a:cubicBezTo>
                  <a:pt x="355600" y="95429"/>
                  <a:pt x="351850" y="101332"/>
                  <a:pt x="345946" y="104041"/>
                </a:cubicBezTo>
                <a:lnTo>
                  <a:pt x="194121" y="174188"/>
                </a:lnTo>
                <a:cubicBezTo>
                  <a:pt x="183773" y="178981"/>
                  <a:pt x="171827" y="178981"/>
                  <a:pt x="161479" y="174188"/>
                </a:cubicBezTo>
                <a:lnTo>
                  <a:pt x="9654" y="104041"/>
                </a:lnTo>
                <a:cubicBezTo>
                  <a:pt x="3750" y="101263"/>
                  <a:pt x="0" y="95359"/>
                  <a:pt x="0" y="88900"/>
                </a:cubicBezTo>
                <a:cubicBezTo>
                  <a:pt x="0" y="82441"/>
                  <a:pt x="3750" y="76468"/>
                  <a:pt x="9654" y="73759"/>
                </a:cubicBezTo>
                <a:lnTo>
                  <a:pt x="161479" y="3612"/>
                </a:lnTo>
                <a:close/>
                <a:moveTo>
                  <a:pt x="33407" y="151686"/>
                </a:moveTo>
                <a:lnTo>
                  <a:pt x="147518" y="204401"/>
                </a:lnTo>
                <a:cubicBezTo>
                  <a:pt x="166757" y="213291"/>
                  <a:pt x="188913" y="213291"/>
                  <a:pt x="208151" y="204401"/>
                </a:cubicBezTo>
                <a:lnTo>
                  <a:pt x="322263" y="151686"/>
                </a:lnTo>
                <a:lnTo>
                  <a:pt x="345946" y="162659"/>
                </a:lnTo>
                <a:cubicBezTo>
                  <a:pt x="351850" y="165368"/>
                  <a:pt x="355600" y="171271"/>
                  <a:pt x="355600" y="177800"/>
                </a:cubicBezTo>
                <a:cubicBezTo>
                  <a:pt x="355600" y="184329"/>
                  <a:pt x="351850" y="190232"/>
                  <a:pt x="345946" y="192941"/>
                </a:cubicBezTo>
                <a:lnTo>
                  <a:pt x="194121" y="263088"/>
                </a:lnTo>
                <a:cubicBezTo>
                  <a:pt x="183773" y="267881"/>
                  <a:pt x="171827" y="267881"/>
                  <a:pt x="161479" y="263088"/>
                </a:cubicBezTo>
                <a:lnTo>
                  <a:pt x="9654" y="192941"/>
                </a:lnTo>
                <a:cubicBezTo>
                  <a:pt x="3750" y="190163"/>
                  <a:pt x="0" y="184259"/>
                  <a:pt x="0" y="177800"/>
                </a:cubicBezTo>
                <a:cubicBezTo>
                  <a:pt x="0" y="171341"/>
                  <a:pt x="3750" y="165368"/>
                  <a:pt x="9654" y="162659"/>
                </a:cubicBezTo>
                <a:lnTo>
                  <a:pt x="33337" y="151686"/>
                </a:lnTo>
                <a:close/>
                <a:moveTo>
                  <a:pt x="9654" y="251559"/>
                </a:moveTo>
                <a:lnTo>
                  <a:pt x="33337" y="240586"/>
                </a:lnTo>
                <a:lnTo>
                  <a:pt x="147449" y="293301"/>
                </a:lnTo>
                <a:cubicBezTo>
                  <a:pt x="166688" y="302191"/>
                  <a:pt x="188843" y="302191"/>
                  <a:pt x="208082" y="293301"/>
                </a:cubicBezTo>
                <a:lnTo>
                  <a:pt x="322193" y="240586"/>
                </a:lnTo>
                <a:lnTo>
                  <a:pt x="345877" y="251559"/>
                </a:lnTo>
                <a:cubicBezTo>
                  <a:pt x="351780" y="254268"/>
                  <a:pt x="355531" y="260171"/>
                  <a:pt x="355531" y="266700"/>
                </a:cubicBezTo>
                <a:cubicBezTo>
                  <a:pt x="355531" y="273229"/>
                  <a:pt x="351780" y="279132"/>
                  <a:pt x="345877" y="281841"/>
                </a:cubicBezTo>
                <a:lnTo>
                  <a:pt x="194052" y="351988"/>
                </a:lnTo>
                <a:cubicBezTo>
                  <a:pt x="183704" y="356781"/>
                  <a:pt x="171758" y="356781"/>
                  <a:pt x="161409" y="351988"/>
                </a:cubicBezTo>
                <a:lnTo>
                  <a:pt x="9654" y="281841"/>
                </a:lnTo>
                <a:cubicBezTo>
                  <a:pt x="3750" y="279063"/>
                  <a:pt x="0" y="273159"/>
                  <a:pt x="0" y="266700"/>
                </a:cubicBezTo>
                <a:cubicBezTo>
                  <a:pt x="0" y="260241"/>
                  <a:pt x="3750" y="254268"/>
                  <a:pt x="9654" y="251559"/>
                </a:cubicBezTo>
                <a:close/>
              </a:path>
            </a:pathLst>
          </a:cu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6515100" y="1714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Estructuras Compuestas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032500" y="21590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Arreglos multidimensionales (matrices) y structs para crear tipos de datos complejos agrupando variables.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795000" y="1524000"/>
            <a:ext cx="4699000" cy="203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11049000" y="1714500"/>
            <a:ext cx="355600" cy="35560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11531600" y="1714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Funciones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049000" y="21590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Declaración de funciones con parámetros y valores de retorno. Variables locales y globales.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62000" y="3873500"/>
            <a:ext cx="4699000" cy="203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1016000" y="406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63500" y="72231"/>
                </a:moveTo>
                <a:cubicBezTo>
                  <a:pt x="74014" y="72231"/>
                  <a:pt x="82550" y="64762"/>
                  <a:pt x="82550" y="55563"/>
                </a:cubicBezTo>
                <a:cubicBezTo>
                  <a:pt x="82550" y="46363"/>
                  <a:pt x="74014" y="38894"/>
                  <a:pt x="63500" y="38894"/>
                </a:cubicBezTo>
                <a:cubicBezTo>
                  <a:pt x="52986" y="38894"/>
                  <a:pt x="44450" y="46363"/>
                  <a:pt x="44450" y="55563"/>
                </a:cubicBezTo>
                <a:cubicBezTo>
                  <a:pt x="44450" y="64762"/>
                  <a:pt x="52986" y="72231"/>
                  <a:pt x="63500" y="72231"/>
                </a:cubicBezTo>
                <a:close/>
                <a:moveTo>
                  <a:pt x="127000" y="55563"/>
                </a:moveTo>
                <a:cubicBezTo>
                  <a:pt x="127000" y="78343"/>
                  <a:pt x="111363" y="97929"/>
                  <a:pt x="88900" y="106472"/>
                </a:cubicBezTo>
                <a:lnTo>
                  <a:pt x="88900" y="155575"/>
                </a:lnTo>
                <a:lnTo>
                  <a:pt x="228600" y="155575"/>
                </a:lnTo>
                <a:cubicBezTo>
                  <a:pt x="249634" y="155575"/>
                  <a:pt x="266700" y="140643"/>
                  <a:pt x="266700" y="122238"/>
                </a:cubicBezTo>
                <a:lnTo>
                  <a:pt x="266700" y="106472"/>
                </a:lnTo>
                <a:cubicBezTo>
                  <a:pt x="244237" y="97929"/>
                  <a:pt x="228600" y="78343"/>
                  <a:pt x="228600" y="55563"/>
                </a:cubicBezTo>
                <a:cubicBezTo>
                  <a:pt x="228600" y="24864"/>
                  <a:pt x="257016" y="0"/>
                  <a:pt x="292100" y="0"/>
                </a:cubicBezTo>
                <a:cubicBezTo>
                  <a:pt x="327184" y="0"/>
                  <a:pt x="355600" y="24864"/>
                  <a:pt x="355600" y="55563"/>
                </a:cubicBezTo>
                <a:cubicBezTo>
                  <a:pt x="355600" y="78343"/>
                  <a:pt x="339963" y="97929"/>
                  <a:pt x="317500" y="106472"/>
                </a:cubicBezTo>
                <a:lnTo>
                  <a:pt x="317500" y="122238"/>
                </a:lnTo>
                <a:cubicBezTo>
                  <a:pt x="317500" y="165229"/>
                  <a:pt x="277733" y="200025"/>
                  <a:pt x="228600" y="200025"/>
                </a:cubicBezTo>
                <a:lnTo>
                  <a:pt x="88900" y="200025"/>
                </a:lnTo>
                <a:lnTo>
                  <a:pt x="88900" y="249128"/>
                </a:lnTo>
                <a:cubicBezTo>
                  <a:pt x="111363" y="257671"/>
                  <a:pt x="127000" y="277257"/>
                  <a:pt x="127000" y="300038"/>
                </a:cubicBezTo>
                <a:cubicBezTo>
                  <a:pt x="127000" y="330736"/>
                  <a:pt x="98584" y="355600"/>
                  <a:pt x="63500" y="355600"/>
                </a:cubicBezTo>
                <a:cubicBezTo>
                  <a:pt x="28416" y="355600"/>
                  <a:pt x="0" y="330736"/>
                  <a:pt x="0" y="300038"/>
                </a:cubicBezTo>
                <a:cubicBezTo>
                  <a:pt x="0" y="277257"/>
                  <a:pt x="15637" y="257671"/>
                  <a:pt x="38100" y="249128"/>
                </a:cubicBezTo>
                <a:lnTo>
                  <a:pt x="38100" y="106541"/>
                </a:lnTo>
                <a:cubicBezTo>
                  <a:pt x="15637" y="97929"/>
                  <a:pt x="0" y="78343"/>
                  <a:pt x="0" y="55563"/>
                </a:cubicBezTo>
                <a:cubicBezTo>
                  <a:pt x="0" y="24864"/>
                  <a:pt x="28416" y="0"/>
                  <a:pt x="63500" y="0"/>
                </a:cubicBezTo>
                <a:cubicBezTo>
                  <a:pt x="98584" y="0"/>
                  <a:pt x="127000" y="24864"/>
                  <a:pt x="127000" y="55563"/>
                </a:cubicBezTo>
                <a:close/>
                <a:moveTo>
                  <a:pt x="311150" y="55563"/>
                </a:moveTo>
                <a:cubicBezTo>
                  <a:pt x="311150" y="46363"/>
                  <a:pt x="302614" y="38894"/>
                  <a:pt x="292100" y="38894"/>
                </a:cubicBezTo>
                <a:cubicBezTo>
                  <a:pt x="281586" y="38894"/>
                  <a:pt x="273050" y="46363"/>
                  <a:pt x="273050" y="55563"/>
                </a:cubicBezTo>
                <a:cubicBezTo>
                  <a:pt x="273050" y="64762"/>
                  <a:pt x="281586" y="72231"/>
                  <a:pt x="292100" y="72231"/>
                </a:cubicBezTo>
                <a:cubicBezTo>
                  <a:pt x="302614" y="72231"/>
                  <a:pt x="311150" y="64762"/>
                  <a:pt x="311150" y="55563"/>
                </a:cubicBezTo>
                <a:close/>
                <a:moveTo>
                  <a:pt x="63500" y="316706"/>
                </a:moveTo>
                <a:cubicBezTo>
                  <a:pt x="74014" y="316706"/>
                  <a:pt x="82550" y="309237"/>
                  <a:pt x="82550" y="300038"/>
                </a:cubicBezTo>
                <a:cubicBezTo>
                  <a:pt x="82550" y="290838"/>
                  <a:pt x="74014" y="283369"/>
                  <a:pt x="63500" y="283369"/>
                </a:cubicBezTo>
                <a:cubicBezTo>
                  <a:pt x="52986" y="283369"/>
                  <a:pt x="44450" y="290838"/>
                  <a:pt x="44450" y="300038"/>
                </a:cubicBezTo>
                <a:cubicBezTo>
                  <a:pt x="44450" y="309237"/>
                  <a:pt x="52986" y="316706"/>
                  <a:pt x="63500" y="316706"/>
                </a:cubicBezTo>
                <a:close/>
              </a:path>
            </a:pathLst>
          </a:cu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1498600" y="4064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Flujo de Control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16000" y="45085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Condicionales (if, if-else), ciclos (while, for), break y return para controlar el flujo del programa.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778500" y="3873500"/>
            <a:ext cx="4699000" cy="203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6032500" y="406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44450"/>
                </a:moveTo>
                <a:cubicBezTo>
                  <a:pt x="0" y="19933"/>
                  <a:pt x="26577" y="0"/>
                  <a:pt x="59267" y="0"/>
                </a:cubicBezTo>
                <a:lnTo>
                  <a:pt x="197710" y="0"/>
                </a:lnTo>
                <a:cubicBezTo>
                  <a:pt x="213453" y="0"/>
                  <a:pt x="228547" y="4653"/>
                  <a:pt x="239660" y="12988"/>
                </a:cubicBezTo>
                <a:lnTo>
                  <a:pt x="338283" y="87025"/>
                </a:lnTo>
                <a:cubicBezTo>
                  <a:pt x="349396" y="95359"/>
                  <a:pt x="355600" y="106680"/>
                  <a:pt x="355600" y="118487"/>
                </a:cubicBezTo>
                <a:lnTo>
                  <a:pt x="355600" y="311150"/>
                </a:lnTo>
                <a:cubicBezTo>
                  <a:pt x="355600" y="335667"/>
                  <a:pt x="329023" y="355600"/>
                  <a:pt x="296333" y="355600"/>
                </a:cubicBezTo>
                <a:lnTo>
                  <a:pt x="59267" y="355600"/>
                </a:lnTo>
                <a:cubicBezTo>
                  <a:pt x="26577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92617" y="40630"/>
                </a:moveTo>
                <a:lnTo>
                  <a:pt x="192617" y="105569"/>
                </a:lnTo>
                <a:cubicBezTo>
                  <a:pt x="192617" y="114806"/>
                  <a:pt x="202525" y="122238"/>
                  <a:pt x="214842" y="122238"/>
                </a:cubicBezTo>
                <a:lnTo>
                  <a:pt x="301427" y="122238"/>
                </a:lnTo>
                <a:lnTo>
                  <a:pt x="192617" y="40630"/>
                </a:lnTo>
                <a:close/>
                <a:moveTo>
                  <a:pt x="142796" y="205303"/>
                </a:moveTo>
                <a:cubicBezTo>
                  <a:pt x="150760" y="198289"/>
                  <a:pt x="149741" y="187801"/>
                  <a:pt x="140388" y="181828"/>
                </a:cubicBezTo>
                <a:cubicBezTo>
                  <a:pt x="131035" y="175855"/>
                  <a:pt x="117052" y="176619"/>
                  <a:pt x="109088" y="183634"/>
                </a:cubicBezTo>
                <a:lnTo>
                  <a:pt x="64638" y="222528"/>
                </a:lnTo>
                <a:cubicBezTo>
                  <a:pt x="57507" y="228779"/>
                  <a:pt x="57507" y="237946"/>
                  <a:pt x="64638" y="244197"/>
                </a:cubicBezTo>
                <a:lnTo>
                  <a:pt x="109088" y="283091"/>
                </a:lnTo>
                <a:cubicBezTo>
                  <a:pt x="117052" y="290106"/>
                  <a:pt x="131128" y="290870"/>
                  <a:pt x="140388" y="284897"/>
                </a:cubicBezTo>
                <a:cubicBezTo>
                  <a:pt x="149648" y="278924"/>
                  <a:pt x="150760" y="268367"/>
                  <a:pt x="142796" y="261422"/>
                </a:cubicBezTo>
                <a:lnTo>
                  <a:pt x="110755" y="233363"/>
                </a:lnTo>
                <a:lnTo>
                  <a:pt x="142796" y="205303"/>
                </a:lnTo>
                <a:close/>
                <a:moveTo>
                  <a:pt x="246512" y="183634"/>
                </a:moveTo>
                <a:cubicBezTo>
                  <a:pt x="238548" y="176619"/>
                  <a:pt x="224473" y="175855"/>
                  <a:pt x="215212" y="181828"/>
                </a:cubicBezTo>
                <a:cubicBezTo>
                  <a:pt x="205952" y="187801"/>
                  <a:pt x="204840" y="198358"/>
                  <a:pt x="212804" y="205303"/>
                </a:cubicBezTo>
                <a:lnTo>
                  <a:pt x="244845" y="233363"/>
                </a:lnTo>
                <a:lnTo>
                  <a:pt x="212804" y="261422"/>
                </a:lnTo>
                <a:cubicBezTo>
                  <a:pt x="204840" y="268436"/>
                  <a:pt x="205859" y="278924"/>
                  <a:pt x="215212" y="284897"/>
                </a:cubicBezTo>
                <a:cubicBezTo>
                  <a:pt x="224565" y="290870"/>
                  <a:pt x="238548" y="290106"/>
                  <a:pt x="246512" y="283091"/>
                </a:cubicBezTo>
                <a:lnTo>
                  <a:pt x="290962" y="244197"/>
                </a:lnTo>
                <a:cubicBezTo>
                  <a:pt x="298093" y="237946"/>
                  <a:pt x="298093" y="228779"/>
                  <a:pt x="290962" y="222528"/>
                </a:cubicBezTo>
                <a:lnTo>
                  <a:pt x="246512" y="183634"/>
                </a:lnTo>
                <a:close/>
              </a:path>
            </a:pathLst>
          </a:cu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6515100" y="4064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Salida: Código TAC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032500" y="45085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Generación de Código Intermedio de Tres Direcciones (TAC), el paso previo a código máquina o ensamblador.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0795000" y="3873500"/>
            <a:ext cx="4699000" cy="203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11049000" y="406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11531600" y="4064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Verificación Semántica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049000" y="45085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Detección de errores: variables duplicadas, tipos incompatibles, identificadores no declarados, índices inválidos.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62000" y="62230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compilador </a:t>
            </a:r>
            <a:r>
              <a:rPr lang="en-US" sz="1400" b="1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genera código ensamblador ni ejecutables</a:t>
            </a:r>
            <a:r>
              <a:rPr lang="en-US" sz="14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Su resultado final es el código intermedio TAC con validación semántica completa.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/ 18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6400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1270000" y="3683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ANÁLISIS LÉXICO Y SINTÁCTICO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70000" y="4445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Construcción del analizador léxico con Flex y el parser con Bison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70000" y="5080000"/>
            <a:ext cx="1524000" cy="50800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63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 LENGUAJE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30500" y="38100"/>
            <a:ext cx="2540000" cy="381000"/>
          </a:xfrm>
          <a:prstGeom prst="roundRect">
            <a:avLst>
              <a:gd name="adj" fmla="val 8000"/>
            </a:avLst>
          </a:prstGeom>
          <a:solidFill>
            <a:srgbClr val="E9C46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2730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 LÉXICO/SINTÁCTICO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97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 SEMÁNTICO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64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 TABLAS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31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 CÓDIGO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398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 PRUEBAS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2000" y="711200"/>
            <a:ext cx="50800" cy="4064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965200" y="7112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Gramática y Precedencias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14732000" cy="127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762000" y="1460500"/>
            <a:ext cx="7112000" cy="546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1016000" y="15875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Reglas de Producción Principales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1968500"/>
            <a:ext cx="6604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Programa:</a:t>
            </a: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 → H | ε</a:t>
            </a:r>
            <a:endParaRPr lang="en-US" sz="1200" dirty="0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12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Declaraciones: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 → T L ; | struct ID { H } ; | def T ID ( F ) { H R }</a:t>
            </a:r>
            <a:endParaRPr lang="en-US" sz="1200" dirty="0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12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Tipos: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 → B A | B → int | float | bool | char | struct ID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→ [ INTLIT ] A | ε</a:t>
            </a:r>
            <a:endParaRPr lang="en-US" sz="1200" dirty="0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12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Sentencias: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 → break ; | return E ; | ID = E ; | if ( E ) S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| if ( E ) S else S | while ( E ) S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| for ( S_ASIG ; E ; S_ASIG ) S | { R }</a:t>
            </a:r>
            <a:endParaRPr lang="en-US" sz="1200" dirty="0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12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Expresiones: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 → E + E | E - E | E * E | E / E | E % E | E || E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| E &amp;&amp; E | E &gt; E | E &lt; E | E == E | E != E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| ( E ) | ID | ID ( N ) | INTLIT | FLOATLIT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55000" y="1460500"/>
            <a:ext cx="7239000" cy="50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8509000" y="1587500"/>
            <a:ext cx="673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Jerarquía de Operadores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09000" y="2032000"/>
          <a:ext cx="6731000" cy="3175000"/>
        </p:xfrm>
        <a:graphic>
          <a:graphicData uri="http://schemas.openxmlformats.org/drawingml/2006/table">
            <a:tbl>
              <a:tblPr/>
              <a:tblGrid>
                <a:gridCol w="6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2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#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Categoría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Operadores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Lógicos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||, &amp;&amp;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Igualdades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==, !=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Relacionales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&gt;, &lt;, &gt;=, &lt;=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Aditivos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+, -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Multiplicativos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*, /, %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8509000" y="53975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Asociatividad:</a:t>
            </a:r>
            <a:r>
              <a:rPr lang="en-US" sz="14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Todos los operadores tienen asociatividad por la </a:t>
            </a:r>
            <a:r>
              <a:rPr lang="en-US" sz="1400" b="1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izquierda</a:t>
            </a:r>
            <a:r>
              <a:rPr lang="en-US" sz="14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operador </a:t>
            </a:r>
            <a:r>
              <a:rPr lang="en-US" sz="1400" b="1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módulo (%)</a:t>
            </a:r>
            <a:r>
              <a:rPr lang="en-US" sz="14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requiere ambos operandos enteros.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/ 18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63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 LENGUAJE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30500" y="38100"/>
            <a:ext cx="2540000" cy="381000"/>
          </a:xfrm>
          <a:prstGeom prst="roundRect">
            <a:avLst>
              <a:gd name="adj" fmla="val 8000"/>
            </a:avLst>
          </a:prstGeom>
          <a:solidFill>
            <a:srgbClr val="E9C46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2730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 LÉXICO/SINTÁCTICO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97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 SEMÁNTICO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64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 TABLAS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31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 CÓDIGO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398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 PRUEBAS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2000" y="711200"/>
            <a:ext cx="50800" cy="4064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965200" y="7112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Manejo de Conflictos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14732000" cy="127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762000" y="1524000"/>
            <a:ext cx="6858000" cy="2603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1016000" y="171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E76F5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1498600" y="17145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E76F5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Problema: Else Colgante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16000" y="2184400"/>
            <a:ext cx="6350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Cuando un </a:t>
            </a: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</a:t>
            </a: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anidado tiene un </a:t>
            </a: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else</a:t>
            </a: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solo, el analizador entra en conflicto: </a:t>
            </a:r>
            <a:r>
              <a:rPr lang="en-US" sz="14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¿a cuál if pertenece?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Ambigüedad clásica en gramáticas tipo C.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2000" y="4318000"/>
            <a:ext cx="6858000" cy="25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1016000" y="450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1498600" y="45085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Solución: %expect 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16000" y="4978400"/>
            <a:ext cx="635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 el archivo de Bison se incluye la directiva: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B4332"/>
                </a:solidFill>
                <a:highlight>
                  <a:srgbClr val="E8E8E3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%expect 1 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Esto indica a Bison que ignore la advertencia y resuelva por </a:t>
            </a: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desplazamiento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emparejando el else con el </a:t>
            </a: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más cercano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128000" y="1524000"/>
            <a:ext cx="7366000" cy="53340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8382000" y="1714500"/>
            <a:ext cx="685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Ejemplo del Conflicto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82000" y="2159000"/>
            <a:ext cx="6858000" cy="463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Código ambiguo: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(cond1)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if (cond2)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    stmtA;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else      </a:t>
            </a:r>
            <a:r>
              <a:rPr lang="en-US" sz="140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 ¿a quién?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    stmtB;</a:t>
            </a:r>
            <a:endParaRPr lang="en-US" sz="1400" dirty="0"/>
          </a:p>
          <a:p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Resolución (if más cercano):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(cond1) {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if (cond2)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    stmtA;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else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    stmtB;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/ 18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6400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1270000" y="3683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ANÁLISIS SEMÁNTICO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70000" y="4445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Atributos, reglas semánticas, manejo de ámbitos y verificación de tipos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70000" y="5080000"/>
            <a:ext cx="1524000" cy="50800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63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 LENGUAJE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30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 LÉXICO/SINTÁCTICO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97500" y="38100"/>
            <a:ext cx="2540000" cy="381000"/>
          </a:xfrm>
          <a:prstGeom prst="roundRect">
            <a:avLst>
              <a:gd name="adj" fmla="val 8000"/>
            </a:avLst>
          </a:prstGeom>
          <a:solidFill>
            <a:srgbClr val="E9C46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397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 SEMÁNTICO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64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 TABLAS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31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 CÓDIGO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398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 PRUEBAS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2000" y="711200"/>
            <a:ext cx="50800" cy="4064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965200" y="7112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Atributos y Reglas Semánticas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14732000" cy="127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762000" y="1460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Atributos Principales (Definición Dirigida por Sintaxis)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79600"/>
          <a:ext cx="14732000" cy="2540000"/>
        </p:xfrm>
        <a:graphic>
          <a:graphicData uri="http://schemas.openxmlformats.org/drawingml/2006/table">
            <a:tbl>
              <a:tblPr/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1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Atributo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Nombre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Descripción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tipo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Type ID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Número que indica el tipo de dato de la expresión (int, float, bool, char)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base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Base Type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Tipo base de un arreglo o struct. Ej: para un arreglo de enteros, base = int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dir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Direction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Dirección temporal o nombre de variable donde se almacena el resultado (t1, t2)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tam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Size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Tamaño de la variable en bytes, para calcular offsets en arreglos y structs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baseStr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Base String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Nombre original de una estructura o arreglo, usado para generar el código TAC final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762000" y="4699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Reglas Semánticas Implementadas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2000" y="5143500"/>
            <a:ext cx="4699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4"/>
          <p:cNvSpPr/>
          <p:nvPr/>
        </p:nvSpPr>
        <p:spPr>
          <a:xfrm>
            <a:off x="990600" y="5308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28274" y="204420"/>
                </a:moveTo>
                <a:lnTo>
                  <a:pt x="274840" y="152033"/>
                </a:lnTo>
                <a:cubicBezTo>
                  <a:pt x="280904" y="145212"/>
                  <a:pt x="280904" y="134134"/>
                  <a:pt x="274840" y="127313"/>
                </a:cubicBezTo>
                <a:lnTo>
                  <a:pt x="228274" y="74925"/>
                </a:lnTo>
                <a:cubicBezTo>
                  <a:pt x="222210" y="68104"/>
                  <a:pt x="212363" y="68104"/>
                  <a:pt x="206300" y="74925"/>
                </a:cubicBezTo>
                <a:cubicBezTo>
                  <a:pt x="200237" y="81746"/>
                  <a:pt x="200237" y="92824"/>
                  <a:pt x="206300" y="99645"/>
                </a:cubicBezTo>
                <a:lnTo>
                  <a:pt x="226382" y="122238"/>
                </a:lnTo>
                <a:lnTo>
                  <a:pt x="52970" y="122238"/>
                </a:lnTo>
                <a:lnTo>
                  <a:pt x="73051" y="99645"/>
                </a:lnTo>
                <a:cubicBezTo>
                  <a:pt x="79115" y="92824"/>
                  <a:pt x="79115" y="81746"/>
                  <a:pt x="73051" y="74925"/>
                </a:cubicBezTo>
                <a:cubicBezTo>
                  <a:pt x="66988" y="68104"/>
                  <a:pt x="57141" y="68104"/>
                  <a:pt x="51078" y="74925"/>
                </a:cubicBezTo>
                <a:lnTo>
                  <a:pt x="4511" y="127313"/>
                </a:lnTo>
                <a:cubicBezTo>
                  <a:pt x="1601" y="130587"/>
                  <a:pt x="-49" y="135007"/>
                  <a:pt x="-49" y="139645"/>
                </a:cubicBezTo>
                <a:cubicBezTo>
                  <a:pt x="-49" y="144284"/>
                  <a:pt x="1601" y="148704"/>
                  <a:pt x="4511" y="151978"/>
                </a:cubicBezTo>
                <a:lnTo>
                  <a:pt x="51078" y="204366"/>
                </a:lnTo>
                <a:cubicBezTo>
                  <a:pt x="57141" y="211187"/>
                  <a:pt x="66988" y="211187"/>
                  <a:pt x="73051" y="204366"/>
                </a:cubicBezTo>
                <a:cubicBezTo>
                  <a:pt x="79115" y="197545"/>
                  <a:pt x="79115" y="186467"/>
                  <a:pt x="73051" y="179645"/>
                </a:cubicBezTo>
                <a:lnTo>
                  <a:pt x="52970" y="157053"/>
                </a:lnTo>
                <a:lnTo>
                  <a:pt x="226382" y="157053"/>
                </a:lnTo>
                <a:lnTo>
                  <a:pt x="206300" y="179645"/>
                </a:lnTo>
                <a:cubicBezTo>
                  <a:pt x="200237" y="186467"/>
                  <a:pt x="200237" y="197545"/>
                  <a:pt x="206300" y="204366"/>
                </a:cubicBezTo>
                <a:cubicBezTo>
                  <a:pt x="212363" y="211187"/>
                  <a:pt x="222210" y="211187"/>
                  <a:pt x="228274" y="204366"/>
                </a:cubicBezTo>
                <a:close/>
              </a:path>
            </a:pathLst>
          </a:cu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5"/>
          <p:cNvSpPr/>
          <p:nvPr/>
        </p:nvSpPr>
        <p:spPr>
          <a:xfrm>
            <a:off x="1371600" y="5270500"/>
            <a:ext cx="3873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Propagación de información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 auxiliares globales (currentType) propagan el tipo de dato a través del árbol sintáctico.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778500" y="5143500"/>
            <a:ext cx="4699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7"/>
          <p:cNvSpPr/>
          <p:nvPr/>
        </p:nvSpPr>
        <p:spPr>
          <a:xfrm>
            <a:off x="6007100" y="5308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20355" y="18772"/>
                </a:moveTo>
                <a:cubicBezTo>
                  <a:pt x="226903" y="16044"/>
                  <a:pt x="234379" y="17572"/>
                  <a:pt x="239400" y="22538"/>
                </a:cubicBezTo>
                <a:lnTo>
                  <a:pt x="274325" y="57463"/>
                </a:lnTo>
                <a:cubicBezTo>
                  <a:pt x="277599" y="60737"/>
                  <a:pt x="279455" y="65157"/>
                  <a:pt x="279455" y="69795"/>
                </a:cubicBezTo>
                <a:cubicBezTo>
                  <a:pt x="279455" y="74434"/>
                  <a:pt x="277599" y="78854"/>
                  <a:pt x="274325" y="82128"/>
                </a:cubicBezTo>
                <a:lnTo>
                  <a:pt x="239400" y="117053"/>
                </a:lnTo>
                <a:cubicBezTo>
                  <a:pt x="234379" y="122074"/>
                  <a:pt x="226903" y="123547"/>
                  <a:pt x="220355" y="120819"/>
                </a:cubicBezTo>
                <a:cubicBezTo>
                  <a:pt x="213806" y="118090"/>
                  <a:pt x="209550" y="111815"/>
                  <a:pt x="209550" y="104775"/>
                </a:cubicBezTo>
                <a:lnTo>
                  <a:pt x="209550" y="87313"/>
                </a:lnTo>
                <a:lnTo>
                  <a:pt x="192088" y="87313"/>
                </a:lnTo>
                <a:cubicBezTo>
                  <a:pt x="186576" y="87313"/>
                  <a:pt x="181392" y="89877"/>
                  <a:pt x="178118" y="94298"/>
                </a:cubicBezTo>
                <a:lnTo>
                  <a:pt x="160437" y="117872"/>
                </a:lnTo>
                <a:lnTo>
                  <a:pt x="138609" y="88786"/>
                </a:lnTo>
                <a:lnTo>
                  <a:pt x="150178" y="73342"/>
                </a:lnTo>
                <a:cubicBezTo>
                  <a:pt x="160055" y="60136"/>
                  <a:pt x="175607" y="52388"/>
                  <a:pt x="192088" y="52388"/>
                </a:cubicBezTo>
                <a:lnTo>
                  <a:pt x="209550" y="52388"/>
                </a:lnTo>
                <a:lnTo>
                  <a:pt x="209550" y="34925"/>
                </a:lnTo>
                <a:cubicBezTo>
                  <a:pt x="209550" y="27885"/>
                  <a:pt x="213806" y="21501"/>
                  <a:pt x="220355" y="18772"/>
                </a:cubicBezTo>
                <a:close/>
                <a:moveTo>
                  <a:pt x="84038" y="161528"/>
                </a:moveTo>
                <a:lnTo>
                  <a:pt x="105866" y="190614"/>
                </a:lnTo>
                <a:lnTo>
                  <a:pt x="94298" y="206058"/>
                </a:lnTo>
                <a:cubicBezTo>
                  <a:pt x="84420" y="219264"/>
                  <a:pt x="68868" y="227013"/>
                  <a:pt x="52388" y="227013"/>
                </a:cubicBezTo>
                <a:lnTo>
                  <a:pt x="17463" y="227013"/>
                </a:lnTo>
                <a:cubicBezTo>
                  <a:pt x="7804" y="227013"/>
                  <a:pt x="0" y="219209"/>
                  <a:pt x="0" y="209550"/>
                </a:cubicBezTo>
                <a:cubicBezTo>
                  <a:pt x="0" y="199891"/>
                  <a:pt x="7804" y="192088"/>
                  <a:pt x="17463" y="192088"/>
                </a:cubicBezTo>
                <a:lnTo>
                  <a:pt x="52388" y="192088"/>
                </a:lnTo>
                <a:cubicBezTo>
                  <a:pt x="57899" y="192088"/>
                  <a:pt x="63083" y="189523"/>
                  <a:pt x="66358" y="185103"/>
                </a:cubicBezTo>
                <a:lnTo>
                  <a:pt x="84038" y="161528"/>
                </a:lnTo>
                <a:close/>
                <a:moveTo>
                  <a:pt x="239345" y="256808"/>
                </a:moveTo>
                <a:cubicBezTo>
                  <a:pt x="234325" y="261828"/>
                  <a:pt x="226849" y="263302"/>
                  <a:pt x="220300" y="260573"/>
                </a:cubicBezTo>
                <a:cubicBezTo>
                  <a:pt x="213752" y="257845"/>
                  <a:pt x="209550" y="251515"/>
                  <a:pt x="209550" y="244475"/>
                </a:cubicBezTo>
                <a:lnTo>
                  <a:pt x="209550" y="227013"/>
                </a:lnTo>
                <a:lnTo>
                  <a:pt x="192088" y="227013"/>
                </a:lnTo>
                <a:cubicBezTo>
                  <a:pt x="175607" y="227013"/>
                  <a:pt x="160055" y="219264"/>
                  <a:pt x="150178" y="206058"/>
                </a:cubicBezTo>
                <a:lnTo>
                  <a:pt x="66358" y="94298"/>
                </a:lnTo>
                <a:cubicBezTo>
                  <a:pt x="63083" y="89877"/>
                  <a:pt x="57899" y="87313"/>
                  <a:pt x="52388" y="87313"/>
                </a:cubicBezTo>
                <a:lnTo>
                  <a:pt x="17463" y="87313"/>
                </a:lnTo>
                <a:cubicBezTo>
                  <a:pt x="7804" y="87313"/>
                  <a:pt x="0" y="79509"/>
                  <a:pt x="0" y="69850"/>
                </a:cubicBezTo>
                <a:cubicBezTo>
                  <a:pt x="0" y="60191"/>
                  <a:pt x="7804" y="52388"/>
                  <a:pt x="17463" y="52388"/>
                </a:cubicBezTo>
                <a:lnTo>
                  <a:pt x="52388" y="52388"/>
                </a:lnTo>
                <a:cubicBezTo>
                  <a:pt x="68868" y="52388"/>
                  <a:pt x="84420" y="60136"/>
                  <a:pt x="94298" y="73343"/>
                </a:cubicBezTo>
                <a:lnTo>
                  <a:pt x="178118" y="185103"/>
                </a:lnTo>
                <a:cubicBezTo>
                  <a:pt x="181392" y="189523"/>
                  <a:pt x="186576" y="192088"/>
                  <a:pt x="192088" y="192088"/>
                </a:cubicBezTo>
                <a:lnTo>
                  <a:pt x="209550" y="192088"/>
                </a:lnTo>
                <a:lnTo>
                  <a:pt x="209550" y="174625"/>
                </a:lnTo>
                <a:cubicBezTo>
                  <a:pt x="209550" y="167585"/>
                  <a:pt x="213806" y="161201"/>
                  <a:pt x="220355" y="158472"/>
                </a:cubicBezTo>
                <a:cubicBezTo>
                  <a:pt x="226903" y="155744"/>
                  <a:pt x="234379" y="157272"/>
                  <a:pt x="239400" y="162238"/>
                </a:cubicBezTo>
                <a:lnTo>
                  <a:pt x="274325" y="197163"/>
                </a:lnTo>
                <a:cubicBezTo>
                  <a:pt x="277599" y="200437"/>
                  <a:pt x="279455" y="204857"/>
                  <a:pt x="279455" y="209495"/>
                </a:cubicBezTo>
                <a:cubicBezTo>
                  <a:pt x="279455" y="214134"/>
                  <a:pt x="277599" y="218554"/>
                  <a:pt x="274325" y="221828"/>
                </a:cubicBezTo>
                <a:lnTo>
                  <a:pt x="239400" y="256753"/>
                </a:lnTo>
                <a:close/>
              </a:path>
            </a:pathLst>
          </a:cu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8"/>
          <p:cNvSpPr/>
          <p:nvPr/>
        </p:nvSpPr>
        <p:spPr>
          <a:xfrm>
            <a:off x="6388100" y="5270500"/>
            <a:ext cx="3873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Casteo automático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 una operación combina int con float, se insertan instrucciones inttofloat o floattoint automáticamente.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0795000" y="5143500"/>
            <a:ext cx="4699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0"/>
          <p:cNvSpPr/>
          <p:nvPr/>
        </p:nvSpPr>
        <p:spPr>
          <a:xfrm>
            <a:off x="11023600" y="5308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74840" y="152033"/>
                </a:moveTo>
                <a:cubicBezTo>
                  <a:pt x="280904" y="145212"/>
                  <a:pt x="280904" y="134134"/>
                  <a:pt x="274840" y="127313"/>
                </a:cubicBezTo>
                <a:lnTo>
                  <a:pt x="212751" y="57463"/>
                </a:lnTo>
                <a:cubicBezTo>
                  <a:pt x="206688" y="50641"/>
                  <a:pt x="196841" y="50641"/>
                  <a:pt x="190778" y="57463"/>
                </a:cubicBezTo>
                <a:cubicBezTo>
                  <a:pt x="184714" y="64284"/>
                  <a:pt x="184714" y="75362"/>
                  <a:pt x="190778" y="82183"/>
                </a:cubicBezTo>
                <a:lnTo>
                  <a:pt x="226382" y="122238"/>
                </a:lnTo>
                <a:lnTo>
                  <a:pt x="15522" y="122238"/>
                </a:lnTo>
                <a:cubicBezTo>
                  <a:pt x="6936" y="122238"/>
                  <a:pt x="0" y="130041"/>
                  <a:pt x="0" y="139700"/>
                </a:cubicBezTo>
                <a:cubicBezTo>
                  <a:pt x="0" y="149359"/>
                  <a:pt x="6936" y="157163"/>
                  <a:pt x="15522" y="157163"/>
                </a:cubicBezTo>
                <a:lnTo>
                  <a:pt x="226382" y="157163"/>
                </a:lnTo>
                <a:lnTo>
                  <a:pt x="190778" y="197217"/>
                </a:lnTo>
                <a:cubicBezTo>
                  <a:pt x="184714" y="204038"/>
                  <a:pt x="184714" y="215116"/>
                  <a:pt x="190778" y="221937"/>
                </a:cubicBezTo>
                <a:cubicBezTo>
                  <a:pt x="196841" y="228759"/>
                  <a:pt x="206688" y="228759"/>
                  <a:pt x="212751" y="221937"/>
                </a:cubicBezTo>
                <a:lnTo>
                  <a:pt x="274840" y="152087"/>
                </a:lnTo>
                <a:close/>
              </a:path>
            </a:pathLst>
          </a:cu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1"/>
          <p:cNvSpPr/>
          <p:nvPr/>
        </p:nvSpPr>
        <p:spPr>
          <a:xfrm>
            <a:off x="11404600" y="5270500"/>
            <a:ext cx="3873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Generación de saltos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 if, while y for se crean etiquetas (L0, L1) e instrucciones goto para el flujo condicional.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/ 18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63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 LENGUAJE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30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 LÉXICO/SINTÁCTICO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97500" y="38100"/>
            <a:ext cx="2540000" cy="381000"/>
          </a:xfrm>
          <a:prstGeom prst="roundRect">
            <a:avLst>
              <a:gd name="adj" fmla="val 8000"/>
            </a:avLst>
          </a:prstGeom>
          <a:solidFill>
            <a:srgbClr val="E9C46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397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 SEMÁNTICO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64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 TABLAS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31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 CÓDIGO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398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 PRUEBAS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2000" y="711200"/>
            <a:ext cx="50800" cy="4064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965200" y="711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Manejo de Ámbitos y Verificación de Tipos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14732000" cy="127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762000" y="1460500"/>
            <a:ext cx="7112000" cy="3365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1016000" y="15875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Pila de Tablas de Símbolos (PilaTs)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16000" y="2006600"/>
            <a:ext cx="66040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 resolver la ambigüedad entre variables locales y globales se usa una </a:t>
            </a: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pila de tablas de símbolos</a:t>
            </a: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bottom()</a:t>
            </a: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variables y funciones </a:t>
            </a: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globales</a:t>
            </a: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visibles en todo el programa.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top()</a:t>
            </a: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variables </a:t>
            </a: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locales</a:t>
            </a: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del bloque actual.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Al entrar a una función o struct se </a:t>
            </a: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apila</a:t>
            </a: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 nuevo entorno; al salir se </a:t>
            </a: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desapila</a:t>
            </a: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55000" y="1460500"/>
            <a:ext cx="7239000" cy="317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8509000" y="1587500"/>
            <a:ext cx="673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Tabla de Tipos (TypeTab)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9000" y="2006600"/>
            <a:ext cx="6731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Registra las propiedades físicas de los datos: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Nace con tipos primitivos precargados: </a:t>
            </a: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int, float, bool, char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Registra tipos compuestos (arreglos, structs) con ID único, tamaño y tipo base.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Para structs, almacena un </a:t>
            </a: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apuntador a una tabla de símbolos local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 sus variables internas.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2000" y="4889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Validaciones Semánticas Implementadas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308600"/>
          <a:ext cx="14732000" cy="2921000"/>
        </p:xfrm>
        <a:graphic>
          <a:graphicData uri="http://schemas.openxmlformats.org/drawingml/2006/table">
            <a:tbl>
              <a:tblPr/>
              <a:tblGrid>
                <a:gridCol w="294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8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894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Validación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Descripción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703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Unicidad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 se permiten dos variables, funciones o structs con el mismo nombre en el mismo ámbito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703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Existencia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Al usar una variable se revisa top() primero, luego bottom() para confirmar que fue declarada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703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Compatibilidad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 se permiten operaciones entre tipos incompatibles (ej. struct + int). Casteo automático int↔float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703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Indexación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Los arreglos solo se indexan con enteros (int) mayores a 0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703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Retorno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El tipo retornado por return debe coincidir exactamente con el tipo de la función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545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Parámetros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Al llamar una función, la lista de argumentos debe coincidir con la lista de parámetros declarada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/ 18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6400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1270000" y="3683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70000" y="4445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Estructuras de datos para símbolos, tipos y generación de código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70000" y="5080000"/>
            <a:ext cx="1524000" cy="50800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63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 LENGUAJE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30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 LÉXICO/SINTÁCTICO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97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 SEMÁNTICO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064500" y="38100"/>
            <a:ext cx="2540000" cy="381000"/>
          </a:xfrm>
          <a:prstGeom prst="roundRect">
            <a:avLst>
              <a:gd name="adj" fmla="val 8000"/>
            </a:avLst>
          </a:prstGeom>
          <a:solidFill>
            <a:srgbClr val="E9C46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064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 TABLAS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31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 CÓDIGO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398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 PRUEBAS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2000" y="711200"/>
            <a:ext cx="50800" cy="4064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965200" y="711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Tabla de Símbolos y Tabla de Tipos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14732000" cy="127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762000" y="1460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SymTab — Tabla de Símbolos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79600"/>
          <a:ext cx="7112000" cy="2794000"/>
        </p:xfrm>
        <a:graphic>
          <a:graphicData uri="http://schemas.openxmlformats.org/drawingml/2006/table">
            <a:tbl>
              <a:tblPr/>
              <a:tblGrid>
                <a:gridCol w="177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Campo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Descripción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Identificador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Nombre asignado por el programador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Dirección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Offset relativo o dirección de memoria (dir)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Tipo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ID numérico para consultar en la tabla de tipos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Categoría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var, arg, func, struct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Argumentos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Para funciones: orden de tipos de parámetros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762000" y="4953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TypeTab — Tabla de Tipos</a:t>
            </a:r>
            <a:endParaRPr lang="en-US" sz="16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372100"/>
          <a:ext cx="7112000" cy="2794000"/>
        </p:xfrm>
        <a:graphic>
          <a:graphicData uri="http://schemas.openxmlformats.org/drawingml/2006/table">
            <a:tbl>
              <a:tblPr/>
              <a:tblGrid>
                <a:gridCol w="177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Campo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Descripción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ID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Identificador único del tipo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Nombre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Nombre textual (array, float, struct_X)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Tamaño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Tamaño exacto en bytes (tam)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Tipo Base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Para arreglos: tipo de cada elemento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Tabla Interna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Para structs: apuntador a SymTab con sus variables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8382000" y="1460500"/>
            <a:ext cx="7112000" cy="67056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8636000" y="16510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Relación entre SymTab y TypeTab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9144000" y="2413000"/>
            <a:ext cx="25400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6"/>
          <p:cNvSpPr/>
          <p:nvPr/>
        </p:nvSpPr>
        <p:spPr>
          <a:xfrm>
            <a:off x="9144000" y="2413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SymTab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(nombre, dir, tipoID, cat)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12192000" y="2413000"/>
            <a:ext cx="2540000" cy="889000"/>
          </a:xfrm>
          <a:prstGeom prst="roundRect">
            <a:avLst>
              <a:gd name="adj" fmla="val 8000"/>
            </a:avLst>
          </a:prstGeom>
          <a:solidFill>
            <a:srgbClr val="E9C46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18"/>
          <p:cNvSpPr/>
          <p:nvPr/>
        </p:nvSpPr>
        <p:spPr>
          <a:xfrm>
            <a:off x="12192000" y="2413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TypeTab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(id, nombre, tam, base)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11684000" y="2730500"/>
            <a:ext cx="508000" cy="0"/>
          </a:xfrm>
          <a:prstGeom prst="straightConnector1">
            <a:avLst/>
          </a:prstGeom>
          <a:noFill/>
          <a:ln w="25400">
            <a:solidFill>
              <a:srgbClr val="FFFFF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0"/>
          <p:cNvSpPr/>
          <p:nvPr/>
        </p:nvSpPr>
        <p:spPr>
          <a:xfrm>
            <a:off x="11684000" y="215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tipo → ID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9144000" y="3937000"/>
            <a:ext cx="5588000" cy="889000"/>
          </a:xfrm>
          <a:prstGeom prst="roundRect">
            <a:avLst>
              <a:gd name="adj" fmla="val 8000"/>
            </a:avLst>
          </a:prstGeom>
          <a:solidFill>
            <a:srgbClr val="FFFFFF">
              <a:alpha val="12549"/>
            </a:srgbClr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2"/>
          <p:cNvSpPr/>
          <p:nvPr/>
        </p:nvSpPr>
        <p:spPr>
          <a:xfrm>
            <a:off x="9144000" y="3937000"/>
            <a:ext cx="558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PilaTs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Pila de Tablas de Símbolos (ámbitos anidados)</a:t>
            </a:r>
            <a:endParaRPr lang="en-US" sz="1600" dirty="0"/>
          </a:p>
        </p:txBody>
      </p:sp>
      <p:sp>
        <p:nvSpPr>
          <p:cNvPr id="16" name="Shape 23"/>
          <p:cNvSpPr/>
          <p:nvPr/>
        </p:nvSpPr>
        <p:spPr>
          <a:xfrm>
            <a:off x="10414000" y="3302000"/>
            <a:ext cx="0" cy="635000"/>
          </a:xfrm>
          <a:prstGeom prst="straightConnector1">
            <a:avLst/>
          </a:prstGeom>
          <a:noFill/>
          <a:ln w="25400">
            <a:solidFill>
              <a:srgbClr val="FFFFF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4"/>
          <p:cNvSpPr/>
          <p:nvPr/>
        </p:nvSpPr>
        <p:spPr>
          <a:xfrm>
            <a:off x="9144000" y="5461000"/>
            <a:ext cx="5588000" cy="889000"/>
          </a:xfrm>
          <a:prstGeom prst="roundRect">
            <a:avLst>
              <a:gd name="adj" fmla="val 8000"/>
            </a:avLst>
          </a:prstGeom>
          <a:solidFill>
            <a:srgbClr val="FFFFFF">
              <a:alpha val="12549"/>
            </a:srgbClr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5"/>
          <p:cNvSpPr/>
          <p:nvPr/>
        </p:nvSpPr>
        <p:spPr>
          <a:xfrm>
            <a:off x="9144000" y="5461000"/>
            <a:ext cx="558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CodeGen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Generador de temporales y etiquetas para TAC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11938000" y="4826000"/>
            <a:ext cx="0" cy="635000"/>
          </a:xfrm>
          <a:prstGeom prst="straightConnector1">
            <a:avLst/>
          </a:prstGeom>
          <a:noFill/>
          <a:ln w="25400">
            <a:solidFill>
              <a:srgbClr val="FFFFF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7"/>
          <p:cNvSpPr/>
          <p:nvPr/>
        </p:nvSpPr>
        <p:spPr>
          <a:xfrm>
            <a:off x="8636000" y="6667500"/>
            <a:ext cx="660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SymTab resuelve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nombres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existencia y unicidad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TypeTab resuelve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tipos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compatibilidad y tamaños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PilaTs maneja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ámbitos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locales vs globales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CodeGen genera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código TAC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temporales y etiquetas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 / 18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6400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1270000" y="3683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GENERACIÓN DE CÓDIGO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70000" y="4445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Código Intermedio de Tres Direcciones (TAC) con temporales y etiquetas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70000" y="5080000"/>
            <a:ext cx="1524000" cy="50800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63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 LENGUAJE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30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 LÉXICO/SINTÁCTICO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97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 SEMÁNTICO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64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 TABLAS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731500" y="38100"/>
            <a:ext cx="2540000" cy="381000"/>
          </a:xfrm>
          <a:prstGeom prst="roundRect">
            <a:avLst>
              <a:gd name="adj" fmla="val 8000"/>
            </a:avLst>
          </a:prstGeom>
          <a:solidFill>
            <a:srgbClr val="E9C46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10731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 CÓDIGO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398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 PRUEBAS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2000" y="711200"/>
            <a:ext cx="50800" cy="4064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965200" y="7112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Código Intermedio (TAC)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14732000" cy="127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762000" y="1460500"/>
            <a:ext cx="6858000" cy="330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1016000" y="15875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CodeGen — Generador de Código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2006600"/>
            <a:ext cx="635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generador de código parte las operaciones grandes en instrucciones simples de tres direcciones: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Temporales: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Variables desechables para cálculos intermedios, nombradas secuencialmente: </a:t>
            </a:r>
            <a:r>
              <a:rPr lang="en-US" sz="15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t0, t1, t2...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Etiquetas: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Destinos de saltos condicionales, nombradas: </a:t>
            </a:r>
            <a:r>
              <a:rPr lang="en-US" sz="15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L0, L1, L2...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Pilas auxiliares: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Coordinan saltos en estructuras anidadas.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2000" y="5016500"/>
            <a:ext cx="6858000" cy="3149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1016000" y="51435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Cinco Pilas Auxiliares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5562600"/>
          <a:ext cx="6350000" cy="23495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17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Pila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Función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0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pilaBreak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Destino de saltos break en ciclos anidados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0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pilaReturn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Etiqueta de retorno de función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0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pilaTrue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Etiqueta cuando la condición es verdadera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0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pilaFalse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Etiqueta cuando la condición es falsa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0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pilaDir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Direcciones y offsets para accesos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8128000" y="1460500"/>
            <a:ext cx="7366000" cy="67056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7"/>
          <p:cNvSpPr/>
          <p:nvPr/>
        </p:nvSpPr>
        <p:spPr>
          <a:xfrm>
            <a:off x="8382000" y="1651000"/>
            <a:ext cx="685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Ejemplo: Transformación a TAC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382000" y="2133600"/>
            <a:ext cx="685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Código fuente: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= b + c * d;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(a &gt; 0) return a;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382000" y="3619500"/>
            <a:ext cx="6858000" cy="0"/>
          </a:xfrm>
          <a:prstGeom prst="straightConnector1">
            <a:avLst/>
          </a:prstGeom>
          <a:noFill/>
          <a:ln w="12700">
            <a:solidFill>
              <a:srgbClr val="E9C46A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0"/>
          <p:cNvSpPr/>
          <p:nvPr/>
        </p:nvSpPr>
        <p:spPr>
          <a:xfrm>
            <a:off x="8382000" y="3810000"/>
            <a:ext cx="6858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5000"/>
              </a:lnSpc>
            </a:pPr>
            <a:r>
              <a:rPr lang="en-US" sz="140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Código TAC generado:</a:t>
            </a:r>
            <a:endParaRPr lang="en-US" sz="1400" dirty="0"/>
          </a:p>
          <a:p>
            <a:pPr algn="l">
              <a:lnSpc>
                <a:spcPct val="165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t0 = c * d</a:t>
            </a:r>
            <a:endParaRPr lang="en-US" sz="1400" dirty="0"/>
          </a:p>
          <a:p>
            <a:pPr algn="l">
              <a:lnSpc>
                <a:spcPct val="165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t1 = b + t0</a:t>
            </a:r>
            <a:endParaRPr lang="en-US" sz="1400" dirty="0"/>
          </a:p>
          <a:p>
            <a:pPr algn="l">
              <a:lnSpc>
                <a:spcPct val="165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= t1</a:t>
            </a:r>
            <a:endParaRPr lang="en-US" sz="1400" dirty="0"/>
          </a:p>
          <a:p>
            <a:pPr algn="l">
              <a:lnSpc>
                <a:spcPct val="165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t2 = a &gt; 0</a:t>
            </a:r>
            <a:endParaRPr lang="en-US" sz="1400" dirty="0"/>
          </a:p>
          <a:p>
            <a:pPr algn="l">
              <a:lnSpc>
                <a:spcPct val="165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t2 goto L0</a:t>
            </a:r>
            <a:endParaRPr lang="en-US" sz="1400" dirty="0"/>
          </a:p>
          <a:p>
            <a:pPr algn="l">
              <a:lnSpc>
                <a:spcPct val="165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goto L1</a:t>
            </a:r>
            <a:endParaRPr lang="en-US" sz="1400" dirty="0"/>
          </a:p>
          <a:p>
            <a:pPr algn="l">
              <a:lnSpc>
                <a:spcPct val="165000"/>
              </a:lnSpc>
            </a:pPr>
            <a:r>
              <a:rPr lang="en-US" sz="140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L0: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return a</a:t>
            </a:r>
            <a:endParaRPr lang="en-US" sz="1400" dirty="0"/>
          </a:p>
          <a:p>
            <a:pPr algn="l">
              <a:lnSpc>
                <a:spcPct val="165000"/>
              </a:lnSpc>
            </a:pPr>
            <a:r>
              <a:rPr lang="en-US" sz="140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L1: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...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/ 18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6400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1270000" y="3683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CASOS DE PRUEBA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70000" y="4445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Validación del compilador con programas válidos y con errores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70000" y="5080000"/>
            <a:ext cx="1524000" cy="50800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63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 LENGUAJE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30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 LÉXICO/SINTÁCTICO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97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 SEMÁNTICO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64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 TABLAS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31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 CÓDIGO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398500" y="38100"/>
            <a:ext cx="2540000" cy="381000"/>
          </a:xfrm>
          <a:prstGeom prst="roundRect">
            <a:avLst>
              <a:gd name="adj" fmla="val 8000"/>
            </a:avLst>
          </a:prstGeom>
          <a:solidFill>
            <a:srgbClr val="E9C46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13398500" y="38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 PRUEBAS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2000" y="711200"/>
            <a:ext cx="50800" cy="4064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965200" y="7112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Resultados de Pruebas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14732000" cy="127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762000" y="1460500"/>
            <a:ext cx="14732000" cy="8890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1016000" y="1587500"/>
            <a:ext cx="142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 programas de prueba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—  </a:t>
            </a:r>
            <a:r>
              <a:rPr lang="en-US" sz="180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válidos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·  </a:t>
            </a:r>
            <a:r>
              <a:rPr lang="en-US" sz="1800" dirty="0">
                <a:solidFill>
                  <a:srgbClr val="E76F5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errores léxicos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·  </a:t>
            </a:r>
            <a:r>
              <a:rPr lang="en-US" sz="1800" dirty="0">
                <a:solidFill>
                  <a:srgbClr val="E76F5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errores sintácticos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·  </a:t>
            </a:r>
            <a:r>
              <a:rPr lang="en-US" sz="1800" dirty="0">
                <a:solidFill>
                  <a:srgbClr val="E76F5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errores semánticos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2603500"/>
            <a:ext cx="711200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1016000" y="2768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1B43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1422400" y="2768600"/>
            <a:ext cx="61976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Programas Válidos (5)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3200400"/>
            <a:ext cx="660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Desde cálculos simples hasta matrices y structs. Todos generan </a:t>
            </a: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TAC</a:t>
            </a: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correctamente.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14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Variables y operaciones aritméticas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Condicionales y ciclos anidados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Arreglos multidimensionales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Structs y llamadas a funciones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55000" y="2603500"/>
            <a:ext cx="3556000" cy="2667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8483600" y="2768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00382" y="225103"/>
                </a:moveTo>
                <a:lnTo>
                  <a:pt x="54297" y="79018"/>
                </a:lnTo>
                <a:cubicBezTo>
                  <a:pt x="42074" y="96153"/>
                  <a:pt x="34925" y="117108"/>
                  <a:pt x="34925" y="139700"/>
                </a:cubicBezTo>
                <a:cubicBezTo>
                  <a:pt x="34925" y="197545"/>
                  <a:pt x="81855" y="244475"/>
                  <a:pt x="139700" y="244475"/>
                </a:cubicBezTo>
                <a:cubicBezTo>
                  <a:pt x="162347" y="244475"/>
                  <a:pt x="183302" y="237326"/>
                  <a:pt x="200382" y="225103"/>
                </a:cubicBezTo>
                <a:close/>
                <a:moveTo>
                  <a:pt x="225103" y="200382"/>
                </a:moveTo>
                <a:cubicBezTo>
                  <a:pt x="237326" y="183247"/>
                  <a:pt x="244475" y="162292"/>
                  <a:pt x="244475" y="139700"/>
                </a:cubicBezTo>
                <a:cubicBezTo>
                  <a:pt x="244475" y="81855"/>
                  <a:pt x="197545" y="34925"/>
                  <a:pt x="139700" y="34925"/>
                </a:cubicBezTo>
                <a:cubicBezTo>
                  <a:pt x="117053" y="34925"/>
                  <a:pt x="96098" y="42074"/>
                  <a:pt x="79018" y="54297"/>
                </a:cubicBezTo>
                <a:lnTo>
                  <a:pt x="225103" y="200382"/>
                </a:lnTo>
                <a:close/>
                <a:moveTo>
                  <a:pt x="0" y="139700"/>
                </a:moveTo>
                <a:cubicBezTo>
                  <a:pt x="0" y="62597"/>
                  <a:pt x="62597" y="0"/>
                  <a:pt x="139700" y="0"/>
                </a:cubicBezTo>
                <a:cubicBezTo>
                  <a:pt x="216803" y="0"/>
                  <a:pt x="279400" y="62597"/>
                  <a:pt x="279400" y="139700"/>
                </a:cubicBezTo>
                <a:cubicBezTo>
                  <a:pt x="279400" y="216803"/>
                  <a:pt x="216803" y="279400"/>
                  <a:pt x="139700" y="279400"/>
                </a:cubicBezTo>
                <a:cubicBezTo>
                  <a:pt x="62597" y="279400"/>
                  <a:pt x="0" y="216803"/>
                  <a:pt x="0" y="139700"/>
                </a:cubicBezTo>
                <a:close/>
              </a:path>
            </a:pathLst>
          </a:custGeom>
          <a:solidFill>
            <a:srgbClr val="E76F5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8839200" y="2768600"/>
            <a:ext cx="2717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E76F5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Errores Léxicos (3)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83600" y="3175000"/>
            <a:ext cx="30734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Caracteres no aceptados: </a:t>
            </a:r>
            <a:r>
              <a:rPr lang="en-US" sz="13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</a:t>
            </a: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3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</a:t>
            </a: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3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@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 detecta y reporta el error inmediatamente.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1938000" y="2603500"/>
            <a:ext cx="3556000" cy="2667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12166600" y="2768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75013" y="655"/>
                </a:moveTo>
                <a:cubicBezTo>
                  <a:pt x="166767" y="-2019"/>
                  <a:pt x="158181" y="3383"/>
                  <a:pt x="155804" y="12660"/>
                </a:cubicBezTo>
                <a:lnTo>
                  <a:pt x="93715" y="257135"/>
                </a:lnTo>
                <a:cubicBezTo>
                  <a:pt x="91339" y="266412"/>
                  <a:pt x="96141" y="276071"/>
                  <a:pt x="104387" y="278745"/>
                </a:cubicBezTo>
                <a:cubicBezTo>
                  <a:pt x="112633" y="281419"/>
                  <a:pt x="121219" y="276017"/>
                  <a:pt x="123596" y="266740"/>
                </a:cubicBezTo>
                <a:lnTo>
                  <a:pt x="185685" y="22265"/>
                </a:lnTo>
                <a:cubicBezTo>
                  <a:pt x="188061" y="12988"/>
                  <a:pt x="183259" y="3329"/>
                  <a:pt x="175013" y="655"/>
                </a:cubicBezTo>
                <a:close/>
                <a:moveTo>
                  <a:pt x="206349" y="74925"/>
                </a:moveTo>
                <a:cubicBezTo>
                  <a:pt x="200285" y="81746"/>
                  <a:pt x="200285" y="92824"/>
                  <a:pt x="206349" y="99645"/>
                </a:cubicBezTo>
                <a:lnTo>
                  <a:pt x="241953" y="139700"/>
                </a:lnTo>
                <a:lnTo>
                  <a:pt x="206349" y="179755"/>
                </a:lnTo>
                <a:cubicBezTo>
                  <a:pt x="200285" y="186576"/>
                  <a:pt x="200285" y="197654"/>
                  <a:pt x="206349" y="204475"/>
                </a:cubicBezTo>
                <a:cubicBezTo>
                  <a:pt x="212412" y="211296"/>
                  <a:pt x="222259" y="211296"/>
                  <a:pt x="228322" y="204475"/>
                </a:cubicBezTo>
                <a:lnTo>
                  <a:pt x="274889" y="152087"/>
                </a:lnTo>
                <a:cubicBezTo>
                  <a:pt x="280952" y="145266"/>
                  <a:pt x="280952" y="134188"/>
                  <a:pt x="274889" y="127367"/>
                </a:cubicBezTo>
                <a:lnTo>
                  <a:pt x="228322" y="74980"/>
                </a:lnTo>
                <a:cubicBezTo>
                  <a:pt x="222259" y="68158"/>
                  <a:pt x="212412" y="68158"/>
                  <a:pt x="206349" y="74980"/>
                </a:cubicBezTo>
                <a:close/>
                <a:moveTo>
                  <a:pt x="73100" y="74925"/>
                </a:moveTo>
                <a:cubicBezTo>
                  <a:pt x="67037" y="68104"/>
                  <a:pt x="57190" y="68104"/>
                  <a:pt x="51126" y="74925"/>
                </a:cubicBezTo>
                <a:lnTo>
                  <a:pt x="4560" y="127313"/>
                </a:lnTo>
                <a:cubicBezTo>
                  <a:pt x="-1504" y="134134"/>
                  <a:pt x="-1504" y="145212"/>
                  <a:pt x="4560" y="152033"/>
                </a:cubicBezTo>
                <a:lnTo>
                  <a:pt x="51126" y="204420"/>
                </a:lnTo>
                <a:cubicBezTo>
                  <a:pt x="57190" y="211242"/>
                  <a:pt x="67037" y="211242"/>
                  <a:pt x="73100" y="204420"/>
                </a:cubicBezTo>
                <a:cubicBezTo>
                  <a:pt x="79163" y="197599"/>
                  <a:pt x="79163" y="186521"/>
                  <a:pt x="73100" y="179700"/>
                </a:cubicBezTo>
                <a:lnTo>
                  <a:pt x="37496" y="139700"/>
                </a:lnTo>
                <a:lnTo>
                  <a:pt x="73051" y="99645"/>
                </a:lnTo>
                <a:cubicBezTo>
                  <a:pt x="79115" y="92824"/>
                  <a:pt x="79115" y="81746"/>
                  <a:pt x="73051" y="74925"/>
                </a:cubicBezTo>
                <a:close/>
              </a:path>
            </a:pathLst>
          </a:custGeom>
          <a:solidFill>
            <a:srgbClr val="E76F5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12522200" y="2768600"/>
            <a:ext cx="2717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E76F5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Errores Sintácticos (3)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166600" y="3175000"/>
            <a:ext cx="30734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Llaves sin cerrar, puntos y coma omitidos, expresiones sin sentido.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Bison atrapa los conflictos de estructura.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62000" y="5588000"/>
            <a:ext cx="14732000" cy="2667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1016000" y="57531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27013" y="113506"/>
                </a:moveTo>
                <a:cubicBezTo>
                  <a:pt x="227013" y="138554"/>
                  <a:pt x="218882" y="161692"/>
                  <a:pt x="205184" y="180464"/>
                </a:cubicBezTo>
                <a:lnTo>
                  <a:pt x="274270" y="249605"/>
                </a:lnTo>
                <a:cubicBezTo>
                  <a:pt x="281092" y="256426"/>
                  <a:pt x="281092" y="267504"/>
                  <a:pt x="274270" y="274325"/>
                </a:cubicBezTo>
                <a:cubicBezTo>
                  <a:pt x="267449" y="281146"/>
                  <a:pt x="256371" y="281146"/>
                  <a:pt x="249550" y="274325"/>
                </a:cubicBezTo>
                <a:lnTo>
                  <a:pt x="180464" y="205184"/>
                </a:lnTo>
                <a:cubicBezTo>
                  <a:pt x="161692" y="218882"/>
                  <a:pt x="138554" y="227013"/>
                  <a:pt x="113506" y="227013"/>
                </a:cubicBezTo>
                <a:cubicBezTo>
                  <a:pt x="50805" y="227013"/>
                  <a:pt x="0" y="176208"/>
                  <a:pt x="0" y="113506"/>
                </a:cubicBezTo>
                <a:cubicBezTo>
                  <a:pt x="0" y="50805"/>
                  <a:pt x="50805" y="0"/>
                  <a:pt x="113506" y="0"/>
                </a:cubicBezTo>
                <a:cubicBezTo>
                  <a:pt x="176208" y="0"/>
                  <a:pt x="227013" y="50805"/>
                  <a:pt x="227013" y="113506"/>
                </a:cubicBezTo>
                <a:close/>
                <a:moveTo>
                  <a:pt x="113506" y="192088"/>
                </a:moveTo>
                <a:cubicBezTo>
                  <a:pt x="156876" y="192088"/>
                  <a:pt x="192088" y="156876"/>
                  <a:pt x="192088" y="113506"/>
                </a:cubicBezTo>
                <a:cubicBezTo>
                  <a:pt x="192088" y="70136"/>
                  <a:pt x="156876" y="34925"/>
                  <a:pt x="113506" y="34925"/>
                </a:cubicBezTo>
                <a:cubicBezTo>
                  <a:pt x="70136" y="34925"/>
                  <a:pt x="34925" y="70136"/>
                  <a:pt x="34925" y="113506"/>
                </a:cubicBezTo>
                <a:cubicBezTo>
                  <a:pt x="34925" y="156876"/>
                  <a:pt x="70136" y="192088"/>
                  <a:pt x="113506" y="192088"/>
                </a:cubicBezTo>
                <a:close/>
              </a:path>
            </a:pathLst>
          </a:custGeom>
          <a:solidFill>
            <a:srgbClr val="E76F5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1397000" y="57531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E76F5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Errores Semánticos (3)</a:t>
            </a:r>
            <a:endParaRPr lang="en-US" sz="1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6223000"/>
          <a:ext cx="14224000" cy="1778000"/>
        </p:xfrm>
        <a:graphic>
          <a:graphicData uri="http://schemas.openxmlformats.org/drawingml/2006/table">
            <a:tbl>
              <a:tblPr/>
              <a:tblGrid>
                <a:gridCol w="4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16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Error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Descripción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Detectado por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Indexación inválida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Usar float como índice de arreglo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Reglas semánticas de arreglos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Variable no declarada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Usar identificador inexistente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Verificación de existencia en PilaTs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Tipos incompatibles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Operar con tipos no compatibles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Función compatibles()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 / 18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540000"/>
            <a:ext cx="2540000" cy="38100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540000" y="2921000"/>
            <a:ext cx="1117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kern="0" spc="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¡GRACIAS!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858000" y="4064000"/>
            <a:ext cx="2540000" cy="38100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3048000" y="4445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kern="0" spc="20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FRONT-END DE COMPILADOR PARA UN LENGUAJE TIPO 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318000" y="4953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kern="0" spc="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  ·  BISON  ·  TAC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18000" y="5715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Preguntas y comentarios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40000" y="6731000"/>
            <a:ext cx="1117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7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Mendez Camacho Monserrat  ·  Rodríguez Nevarez Edwin</a:t>
            </a:r>
            <a:endParaRPr lang="en-US" sz="1300" dirty="0"/>
          </a:p>
          <a:p>
            <a:pPr algn="ctr">
              <a:lnSpc>
                <a:spcPct val="17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Carrillo Gonzalez Luis Israel  ·  Reyna Méndez Cristian Ignacio</a:t>
            </a:r>
            <a:endParaRPr lang="en-US" sz="1300" dirty="0"/>
          </a:p>
          <a:p>
            <a:pPr algn="ctr">
              <a:lnSpc>
                <a:spcPct val="17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GRUPO 2026-2  ·  UNAM  ·  COMPILADORES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2019</Words>
  <Application>Microsoft Office PowerPoint</Application>
  <PresentationFormat>Personalizado</PresentationFormat>
  <Paragraphs>382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Quattrocento Sans</vt:lpstr>
      <vt:lpstr>Arial</vt:lpstr>
      <vt:lpstr>Liter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Front-end de Compilador para un Lenguaje tipo C</dc:title>
  <dc:subject>Front-end de Compilador para un Lenguaje tipo C</dc:subject>
  <dc:creator>Kimi</dc:creator>
  <cp:lastModifiedBy>Emiya Shirou</cp:lastModifiedBy>
  <cp:revision>2</cp:revision>
  <dcterms:created xsi:type="dcterms:W3CDTF">2026-06-11T21:31:50Z</dcterms:created>
  <dcterms:modified xsi:type="dcterms:W3CDTF">2026-06-15T19:13:37Z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{"Label":"Front-end de Compilador para un Lenguaje tipo C","ContentProducer":"001191110108MACG2KBH8F10000","ProduceID":"19eb7f73-e752-8302-8000-00003bb57326","ReservedCode1":"","ContentPropagator":"001191110108MACG2KBH8F20000","PropagateID":"19eb7f57-0812-83d5-8000-09d4a77afbd3","ReservedCode2":""}</vt:lpwstr>
  </property>
</Properties>
</file>